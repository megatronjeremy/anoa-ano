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60" y="2130425"/>
            <a:ext cx="11460175" cy="1470025"/>
          </a:xfrm>
        </p:spPr>
        <p:txBody>
          <a:bodyPr/>
          <a:lstStyle/>
          <a:p>
            <a:r>
              <a:t>Single-Cell Immune Response to Nanoplastic Particles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886200"/>
            <a:ext cx="11460175" cy="1752600"/>
          </a:xfrm>
        </p:spPr>
        <p:txBody>
          <a:bodyPr/>
          <a:lstStyle/>
          <a:p>
            <a:r>
              <a:t>scRNA-seq of human PBMCs exposed to 40 nm / 200 nm / mixed polystyrene nanoparticles vs control  -  Genomics Informatics, ETF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Question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Do small vs large nanoplastics provoke different immune responses?</a:t>
            </a:r>
          </a:p>
          <a:p>
            <a:pPr>
              <a:defRPr sz="1800"/>
            </a:pPr>
            <a:r>
              <a:t>Does the 40+200 nm mixture do something neither size does alone?</a:t>
            </a:r>
          </a:p>
          <a:p>
            <a:pPr>
              <a:defRPr sz="1800"/>
            </a:pPr>
            <a:r>
              <a:t>4 samples, one donor: PSNP_40nm, PSNP_200nm, PSNP_mixture, control</a:t>
            </a:r>
          </a:p>
          <a:p>
            <a:pPr>
              <a:defRPr sz="1800"/>
            </a:pPr>
            <a:r>
              <a:t>~34,000 PBMCs, AnnData/.h5ad (Zenodo 10.5281/zenodo.15866724)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Pipeline (6 stages, one reproducible driver)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1. QC &amp; preprocessing  -  thresholds justified on real percentiles</a:t>
            </a:r>
          </a:p>
          <a:p>
            <a:pPr>
              <a:defRPr sz="1800"/>
            </a:pPr>
            <a:r>
              <a:t>2. Integration  -  Harmony batch correction, UMAP, Leiden</a:t>
            </a:r>
          </a:p>
          <a:p>
            <a:pPr>
              <a:defRPr sz="1800"/>
            </a:pPr>
            <a:r>
              <a:t>3. Annotation  -  celltypist, cross-checked vs Azimuth &amp; CoDi (~93%)</a:t>
            </a:r>
          </a:p>
          <a:p>
            <a:pPr>
              <a:defRPr sz="1800"/>
            </a:pPr>
            <a:r>
              <a:t>4. Composition  -  proportions + log2 fold-change vs control</a:t>
            </a:r>
          </a:p>
          <a:p>
            <a:pPr>
              <a:defRPr sz="1800"/>
            </a:pPr>
            <a:r>
              <a:t>5. Differential expression  -  per-lineage Wilcoxon + pathway enrichment</a:t>
            </a:r>
          </a:p>
          <a:p>
            <a:pPr>
              <a:defRPr sz="1800"/>
            </a:pPr>
            <a:r>
              <a:t>6. Size-specific effects  -  unique / shared / mixture-emergent 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QC &amp; preprocessing (1/2): per-sample QC metrics</a:t>
            </a:r>
          </a:p>
        </p:txBody>
      </p:sp>
      <p:pic>
        <p:nvPicPr>
          <p:cNvPr id="3" name="Picture 2" descr="01_qc_violin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9576"/>
            <a:ext cx="11460175" cy="305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Violins of the 3 QC metrics after filtering. Thresholds justified on the real distribution (max_genes ~p99, max_mito between p95-p99).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QC &amp; preprocessing (2/2): counts vs %mito</a:t>
            </a:r>
          </a:p>
        </p:txBody>
      </p:sp>
      <p:pic>
        <p:nvPicPr>
          <p:cNvPr id="3" name="Picture 2" descr="01_qc_scatter_counts_mi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847" y="1371600"/>
            <a:ext cx="533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total_counts vs %mito (pre-filter); threshold lines drawn. Drops likely doublets and dying cells.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Integration removes the batch effect</a:t>
            </a:r>
          </a:p>
        </p:txBody>
      </p:sp>
      <p:pic>
        <p:nvPicPr>
          <p:cNvPr id="3" name="Picture 2" descr="02_umap_pre_harmony_by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3" y="1371600"/>
            <a:ext cx="5334000" cy="4572000"/>
          </a:xfrm>
          <a:prstGeom prst="rect">
            <a:avLst/>
          </a:prstGeom>
        </p:spPr>
      </p:pic>
      <p:pic>
        <p:nvPicPr>
          <p:cNvPr id="4" name="Picture 3" descr="02_umap_by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471" y="1371600"/>
            <a:ext cx="533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Before (left) vs after Harmony (right), coloured by sample: samples mix after correction.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Cell-type annotation</a:t>
            </a:r>
          </a:p>
        </p:txBody>
      </p:sp>
      <p:pic>
        <p:nvPicPr>
          <p:cNvPr id="3" name="Picture 2" descr="03_umap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0252"/>
            <a:ext cx="5592927" cy="4194695"/>
          </a:xfrm>
          <a:prstGeom prst="rect">
            <a:avLst/>
          </a:prstGeom>
        </p:spPr>
      </p:pic>
      <p:pic>
        <p:nvPicPr>
          <p:cNvPr id="4" name="Picture 3" descr="03_marker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454047"/>
            <a:ext cx="5592927" cy="440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celltypist lineages; agreement with Azimuth 92.7% and CoDi 93.1% (independent references).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Composition shifts vs control</a:t>
            </a:r>
          </a:p>
        </p:txBody>
      </p:sp>
      <p:pic>
        <p:nvPicPr>
          <p:cNvPr id="3" name="Picture 2" descr="04_composi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4_composition_grou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Cell-type proportions per sample; PSNP_200nm shows the largest compositional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Differential expression: dose-response</a:t>
            </a:r>
          </a:p>
        </p:txBody>
      </p:sp>
      <p:pic>
        <p:nvPicPr>
          <p:cNvPr id="3" name="Picture 2" descr="07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6_size_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Monocytes respond most; 200 nm drives more unique genes than 40 nm; mixture-emergent in monocytes.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Key biological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Monocytes show the strongest transcriptional response to nanoplastic.</a:t>
            </a:r>
          </a:p>
          <a:p>
            <a:pPr>
              <a:defRPr sz="1800"/>
            </a:pPr>
            <a:r>
              <a:t>200 nm particles drive MORE lineage-unique genes than 40 nm.</a:t>
            </a:r>
          </a:p>
          <a:p>
            <a:pPr>
              <a:defRPr sz="1800"/>
            </a:pPr>
            <a:r>
              <a:t>The 40+200 nm mixture produces an EMERGENT monocyte response -</a:t>
            </a:r>
          </a:p>
          <a:p>
            <a:pPr>
              <a:defRPr sz="1800"/>
            </a:pPr>
            <a:r>
              <a:t>  genes significant only in the mixture, in neither single size.</a:t>
            </a:r>
          </a:p>
          <a:p>
            <a:pPr>
              <a:defRPr sz="1800"/>
            </a:pPr>
            <a:r>
              <a:t>In lymphocytes the mixture is weaker than either size (sub-additive).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What the mixture does: emergent inflammation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The 180 mixture-only monocyte genes are dominated by INFLAMMATION.</a:t>
            </a:r>
          </a:p>
          <a:p>
            <a:pPr>
              <a:defRPr sz="1800"/>
            </a:pPr>
            <a:r>
              <a:t>Pathway enrichment (p ~ 1e-21): interleukin, cytokine &amp; TNF signalling,</a:t>
            </a:r>
          </a:p>
          <a:p>
            <a:pPr>
              <a:defRPr sz="1800"/>
            </a:pPr>
            <a:r>
              <a:t>  and 'response to lipopolysaccharide' - i.e. a bacterial-attack-like program.</a:t>
            </a:r>
          </a:p>
          <a:p>
            <a:pPr>
              <a:defRPr sz="1800"/>
            </a:pPr>
            <a:r>
              <a:t>Top mixture-only genes up: RIPK2, TRAF1, PIK3CB (innate/TNF signalling).</a:t>
            </a:r>
          </a:p>
          <a:p>
            <a:pPr>
              <a:defRPr sz="1800"/>
            </a:pPr>
            <a:r>
              <a:t>Interpretation: two sub-threshold exposures together push monocytes over</a:t>
            </a:r>
          </a:p>
          <a:p>
            <a:pPr>
              <a:defRPr sz="1800"/>
            </a:pPr>
            <a:r>
              <a:t>  an inflammatory activation threshold - an emergent, non-additive effect.</a:t>
            </a:r>
          </a:p>
          <a:p>
            <a:pPr>
              <a:defRPr sz="1800"/>
            </a:pPr>
            <a:r>
              <a:t>Real exposure is always to mixtures -&gt; single-size studies may under-estimate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Bonus analyses (1/2): stress/inflammation module scores</a:t>
            </a:r>
          </a:p>
        </p:txBody>
      </p:sp>
      <p:pic>
        <p:nvPicPr>
          <p:cNvPr id="3" name="Picture 2" descr="07_modul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347" y="1371600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Per-sample mean module scores for stress and inflammation gene programs.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Bonus analyses (2/2): mixture additivity</a:t>
            </a:r>
          </a:p>
        </p:txBody>
      </p:sp>
      <p:pic>
        <p:nvPicPr>
          <p:cNvPr id="3" name="Picture 2" descr="07_mixture_add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11582"/>
            <a:ext cx="11460175" cy="2292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Observed mixture response vs the 40+200 nm additive expectation, per lineage.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Limitations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One donor, one sample per condition -&gt; NO biological replicates.</a:t>
            </a:r>
          </a:p>
          <a:p>
            <a:pPr>
              <a:defRPr sz="1800"/>
            </a:pPr>
            <a:r>
              <a:t>DE is cell-level Wilcoxon (not pseudobulk); p-values exploratory, pseudoreplication caveat.</a:t>
            </a:r>
          </a:p>
          <a:p>
            <a:pPr>
              <a:defRPr sz="1800"/>
            </a:pPr>
            <a:r>
              <a:t>No external gene-level ground truth; DE validated internally + biologically.</a:t>
            </a:r>
          </a:p>
          <a:p>
            <a:pPr>
              <a:defRPr sz="1800"/>
            </a:pPr>
            <a:r>
              <a:t>Everything reproduces: `python run_pipeline.py --all`; 37 offline intent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
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Intro: I'm Vuk Djordjevic, master's student at the School of Electrical Engineering, Genome Informatics 2026. This is a single-cell RNA-seq study of how human immune cells respond to nanoplastic particles of different sizes. The core question: does particle size matter, and does a mixture of sizes do something neither size does alone?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 is 4 samples from one donor: peripheral blood immune cells exposed to 40 nm particles, 200 nm particles, a 40+200 nm mixture, and an unexposed control. About 34,000 cells total. Be upfront: one donor, one sample per condition, so no biological replicates -- that shaped the statistics and I flag it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analysis is one pipeline of six stages: QC, integration, annotation, composition, differential expression, and size-specific effects. A single command reproduces all of it from raw data, and each stage has automated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1, quality control -- remove low-quality cells before trusting anything. Three violin plots, one per QC metric: n_genes_by_counts (genes detected per cell), total_counts (total UMIs per cell), and pct_counts_mt (percent mitochondrial reads). The y-axis on each is the value of that metric; the width of the violin is how many cells sit at that value. Cutoffs were set from the real distribution, not guessed: the upper gene cutoff near the 99th percentile removes likely doublets (two cells read as one), the mito cutoff between p95 and p99 removes dying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QC stage, shown as a scatter. Each dot is one cell. X-axis is total_counts (total reads in the cell), y-axis is pct_counts_mt (percent mitochondrial). The threshold lines are drawn over the actual data -- cells that are high-mito or low-count fall outside them and get dropped. This is the same filtering as the violins, just showing the two metrics against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2, integration. Both panels are UMAP plots -- a 2D map where nearby cells have similar expression; axes are UMAP1 and UMAP2 and have no units, only relative position matters. Colour = which sample a cell came from. LEFT (before correction): cells separate by sample -- a technical batch effect, not biology. RIGHT (after Harmony): the colours mix together and cells group by cell type instead. Caveat: because each condition is a single sample, batch and treatment are confounded, so the gene-level results later use the uncorrected data where this doesn't bias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3, annotation. LEFT: the same UMAP (UMAP1 vs UMAP2), now coloured by cell-type lineage -- T cells, B cells, NK cells, monocytes. RIGHT: a marker dot-plot -- rows are cell types, columns are known marker genes; dot colour is mean expression and dot size is the fraction of cells expressing it, so a big dark dot means that gene is a clean marker for that type. I used celltypist plus markers, then cross-checked against two independent references already in the data (Azimuth 92.7%, CoDi 93.1%).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4, composition -- how the proportions of each cell type change across conditions. Y-axis on both is proportion of cells (fraction of the sample, 0 to 1). LEFT: stacked bars, one bar per sample, split into coloured cell-type bands. RIGHT: the same grouped by lineage so you can compare a type across samples side by side. The clear shift is monocytes under 200 nm -- roughly 2.5x more than control (log2 fold-change about +1.35) while other types barely move. No replicates, so these are descriptive proportions.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Stages 5 and 6 together. LEFT (dose-response): x-axis is particle size / condition, y-axis is the number of significant DE genes -- how many genes change on exposure. Monocytes stack highest (they eat and clear foreign particles) and 200 nm drives more than 40 nm: bigger particle, bigger response. RIGHT (size categories): grouped bars per lineage, y-axis = number of DE genes, split into four groups -- unique to 40 nm, unique to 200 nm, shared, and mixture-emergent (significant only in the mixture, neither single size). In monocytes about 180 genes are mixture-emergent: the combination does something the individual sizes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headline. Three points: monocytes respond strongest; 200 nm drives more lineage-unique genes than 40 nm; and the 40+200 nm mixture produces an emergent monocyte response -- about 180 genes significant only in the mixture, in neither single size. In lymphocytes the opposite happens: the mixture is weaker than either size alone. So the combination of sizes does something the individual sizes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that new thing? I ran pathway enrichment on the 180 mixture-only monocyte genes and it points clearly at inflammation. Top pathways, adjusted p about 1e-21: interleukin, cytokine and TNF signalling, plus 'response to lipopolysaccharide' -- the program a monocyte runs during a bacterial infection, here set off by plastic. Strongest genes up are RIPK2 and TRAF1, core innate-immune and TNF genes. Reading: 40 and 200 nm each cause sub-threshold changes, but together they push monocytes over an inflammatory threshold. Real exposure is always to mixtures, so single-size testing may under-estimate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additional-insights part I implemented five extra analyses; this slide lists them and the next slides show each. Module scoring, mixture additivity, clustering robustness, ligand-receptor communication, and dose-response. All five point the same way: a size-dependent, non-additive response centred on monocytes.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1 of 5, module scoring. A heatmap: rows are samples (40 nm, 200 nm, mixture, control), columns are curated gene programs (stress, inflammation). Cell colour is the mean module score for that program in that sample -- darker/hotter means the program is more active. It shows the inflammation program lighting up under exposure, strongest where monocytes are most disrupted.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2 of 5, mixture additivity -- the direct test of non-additivity. One small scatter per lineage. X-axis is the EXPECTED response if you simply add 40 nm and 200 nm effects; y-axis is the OBSERVED mixture response. The diagonal is 'mixture = sum of parts'. Points ABOVE the diagonal are super-additive (the mixture does more than the sum) -- that's what monocytes show. Points below are sub-additive, which is the lymphocytes. This is the quantitative backbone of the emergent-response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Analyses 3 and 4. LEFT (robustness): x-axis is Leiden resolution (how finely you cut the clusters); left y-axis is the number of clusters, right y-axis (green, dashed) is the ARI -- adjusted Rand index, cluster agreement versus resolution 1.0, where 1.0 = identical. A flat-high ARI means the cell groupings are stable, not an artefact of one setting. RIGHT (ligand-receptor): x-axis is log2 fold-change versus control for signalling ligand-receptor pairs -- how cell-to-cell communication shifts on exposure. Analysis 5, dose-response, was already on the differential-expression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limits, stated plainly: one donor and no replicates mean the differential expression is per-cell and exploratory, with a pseudoreplication caveat. No external gene-level reference, so I validated internally and biologically. Everything reproduces from the repository with a single command and a 37-test suite. Thanks for watching.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60" y="2130425"/>
            <a:ext cx="11460175" cy="1470025"/>
          </a:xfrm>
        </p:spPr>
        <p:txBody>
          <a:bodyPr/>
          <a:lstStyle/>
          <a:p>
            <a:r>
              <a:t>Single-Cell Immune Response to Nanoplastic Particles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886200"/>
            <a:ext cx="11460175" cy="1752600"/>
          </a:xfrm>
        </p:spPr>
        <p:txBody>
          <a:bodyPr/>
          <a:lstStyle/>
          <a:p>
            <a:r>
              <a:t>scRNA-seq of human PBMCs exposed to 40 nm / 200 nm / mixed polystyrene nanoparticles vs control  -  Genomics Informatics, ETF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Question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Do small vs large nanoplastics provoke different immune responses?</a:t>
            </a:r>
          </a:p>
          <a:p>
            <a:pPr>
              <a:defRPr sz="1800"/>
            </a:pPr>
            <a:r>
              <a:t>Does the 40+200 nm mixture do something neither size does alone?</a:t>
            </a:r>
          </a:p>
          <a:p>
            <a:pPr>
              <a:defRPr sz="1800"/>
            </a:pPr>
            <a:r>
              <a:t>4 samples, one donor: PSNP_40nm, PSNP_200nm, PSNP_mixture, control</a:t>
            </a:r>
          </a:p>
          <a:p>
            <a:pPr>
              <a:defRPr sz="1800"/>
            </a:pPr>
            <a:r>
              <a:t>~34,000 PBMCs, AnnData/.h5ad (Zenodo 10.5281/zenodo.15866724)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Pipeline (6 stages, one reproducible driver)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1. QC &amp; preprocessing  -  thresholds justified on real percentiles</a:t>
            </a:r>
          </a:p>
          <a:p>
            <a:pPr>
              <a:defRPr sz="1800"/>
            </a:pPr>
            <a:r>
              <a:t>2. Integration  -  Harmony batch correction, UMAP, Leiden</a:t>
            </a:r>
          </a:p>
          <a:p>
            <a:pPr>
              <a:defRPr sz="1800"/>
            </a:pPr>
            <a:r>
              <a:t>3. Annotation  -  celltypist, cross-checked vs Azimuth &amp; CoDi (~93%)</a:t>
            </a:r>
          </a:p>
          <a:p>
            <a:pPr>
              <a:defRPr sz="1800"/>
            </a:pPr>
            <a:r>
              <a:t>4. Composition  -  proportions + log2 fold-change vs control</a:t>
            </a:r>
          </a:p>
          <a:p>
            <a:pPr>
              <a:defRPr sz="1800"/>
            </a:pPr>
            <a:r>
              <a:t>5. Differential expression  -  per-lineage Wilcoxon + pathway enrichment</a:t>
            </a:r>
          </a:p>
          <a:p>
            <a:pPr>
              <a:defRPr sz="1800"/>
            </a:pPr>
            <a:r>
              <a:t>6. Size-specific effects  -  unique / shared / mixture-emergent 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QC &amp; preprocessing (1/2): per-sample QC metrics</a:t>
            </a:r>
          </a:p>
        </p:txBody>
      </p:sp>
      <p:pic>
        <p:nvPicPr>
          <p:cNvPr id="3" name="Picture 2" descr="01_qc_violin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9576"/>
            <a:ext cx="11460175" cy="305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Violins of the 3 QC metrics after filtering. Thresholds justified on the real distribution (max_genes ~p99, max_mito between p95-p99).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QC &amp; preprocessing (2/2): counts vs %mito</a:t>
            </a:r>
          </a:p>
        </p:txBody>
      </p:sp>
      <p:pic>
        <p:nvPicPr>
          <p:cNvPr id="3" name="Picture 2" descr="01_qc_scatter_counts_mi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847" y="1371600"/>
            <a:ext cx="533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total_counts vs %mito (pre-filter); threshold lines drawn. Drops likely doublets and dying cells.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Integration removes the batch effect</a:t>
            </a:r>
          </a:p>
        </p:txBody>
      </p:sp>
      <p:pic>
        <p:nvPicPr>
          <p:cNvPr id="3" name="Picture 2" descr="02_umap_pre_harmony_by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3" y="1371600"/>
            <a:ext cx="5334000" cy="4572000"/>
          </a:xfrm>
          <a:prstGeom prst="rect">
            <a:avLst/>
          </a:prstGeom>
        </p:spPr>
      </p:pic>
      <p:pic>
        <p:nvPicPr>
          <p:cNvPr id="4" name="Picture 3" descr="02_umap_by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471" y="1371600"/>
            <a:ext cx="533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Before (left) vs after Harmony (right), coloured by sample: samples mix after correction.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Cell-type annotation</a:t>
            </a:r>
          </a:p>
        </p:txBody>
      </p:sp>
      <p:pic>
        <p:nvPicPr>
          <p:cNvPr id="3" name="Picture 2" descr="03_umap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0252"/>
            <a:ext cx="5592927" cy="4194695"/>
          </a:xfrm>
          <a:prstGeom prst="rect">
            <a:avLst/>
          </a:prstGeom>
        </p:spPr>
      </p:pic>
      <p:pic>
        <p:nvPicPr>
          <p:cNvPr id="4" name="Picture 3" descr="03_marker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454047"/>
            <a:ext cx="5592927" cy="440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celltypist lineages; agreement with Azimuth 92.7% and CoDi 93.1% (independent references).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Composition shifts vs control</a:t>
            </a:r>
          </a:p>
        </p:txBody>
      </p:sp>
      <p:pic>
        <p:nvPicPr>
          <p:cNvPr id="3" name="Picture 2" descr="04_composi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4_composition_grou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Cell-type proportions per sample; PSNP_200nm shows the largest compositional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Differential expression: dose-response</a:t>
            </a:r>
          </a:p>
        </p:txBody>
      </p:sp>
      <p:pic>
        <p:nvPicPr>
          <p:cNvPr id="3" name="Picture 2" descr="07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6_size_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Monocytes respond most; 200 nm drives more unique genes than 40 nm; mixture-emergent in monocytes.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Key biological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Monocytes show the strongest transcriptional response to nanoplastic.</a:t>
            </a:r>
          </a:p>
          <a:p>
            <a:pPr>
              <a:defRPr sz="1800"/>
            </a:pPr>
            <a:r>
              <a:t>200 nm particles drive MORE lineage-unique genes than 40 nm.</a:t>
            </a:r>
          </a:p>
          <a:p>
            <a:pPr>
              <a:defRPr sz="1800"/>
            </a:pPr>
            <a:r>
              <a:t>The 40+200 nm mixture produces an EMERGENT monocyte response -</a:t>
            </a:r>
          </a:p>
          <a:p>
            <a:pPr>
              <a:defRPr sz="1800"/>
            </a:pPr>
            <a:r>
              <a:t>  genes significant only in the mixture, in neither single size.</a:t>
            </a:r>
          </a:p>
          <a:p>
            <a:pPr>
              <a:defRPr sz="1800"/>
            </a:pPr>
            <a:r>
              <a:t>In lymphocytes the mixture is weaker than either size (sub-additive).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What the mixture does: emergent inflammation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The 180 mixture-only monocyte genes are dominated by INFLAMMATION.</a:t>
            </a:r>
          </a:p>
          <a:p>
            <a:pPr>
              <a:defRPr sz="1800"/>
            </a:pPr>
            <a:r>
              <a:t>Pathway enrichment (p ~ 1e-21): interleukin, cytokine &amp; TNF signalling,</a:t>
            </a:r>
          </a:p>
          <a:p>
            <a:pPr>
              <a:defRPr sz="1800"/>
            </a:pPr>
            <a:r>
              <a:t>  and 'response to lipopolysaccharide' - i.e. a bacterial-attack-like program.</a:t>
            </a:r>
          </a:p>
          <a:p>
            <a:pPr>
              <a:defRPr sz="1800"/>
            </a:pPr>
            <a:r>
              <a:t>Top mixture-only genes up: RIPK2, TRAF1, PIK3CB (innate/TNF signalling).</a:t>
            </a:r>
          </a:p>
          <a:p>
            <a:pPr>
              <a:defRPr sz="1800"/>
            </a:pPr>
            <a:r>
              <a:t>Interpretation: two sub-threshold exposures together push monocytes over</a:t>
            </a:r>
          </a:p>
          <a:p>
            <a:pPr>
              <a:defRPr sz="1800"/>
            </a:pPr>
            <a:r>
              <a:t>  an inflammatory activation threshold - an emergent, non-additive effect.</a:t>
            </a:r>
          </a:p>
          <a:p>
            <a:pPr>
              <a:defRPr sz="1800"/>
            </a:pPr>
            <a:r>
              <a:t>Real exposure is always to mixtures -&gt; single-size studies may under-estimate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Additional analyses (5 implemented)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1. Module scoring - stress &amp; inflammation gene programs per sample (shown next).</a:t>
            </a:r>
          </a:p>
          <a:p>
            <a:pPr>
              <a:defRPr sz="1800"/>
            </a:pPr>
            <a:r>
              <a:t>2. Mixture additivity - is the mixture = 40nm + 200nm? (shown next).</a:t>
            </a:r>
          </a:p>
          <a:p>
            <a:pPr>
              <a:defRPr sz="1800"/>
            </a:pPr>
            <a:r>
              <a:t>3. Clustering robustness - clusters stable across Leiden resolutions (ARI).</a:t>
            </a:r>
          </a:p>
          <a:p>
            <a:pPr>
              <a:defRPr sz="1800"/>
            </a:pPr>
            <a:r>
              <a:t>4. Ligand-receptor - shift in cell-to-cell communication on exposure.</a:t>
            </a:r>
          </a:p>
          <a:p>
            <a:pPr>
              <a:defRPr sz="1800"/>
            </a:pPr>
            <a:r>
              <a:t>5. Dose-response - disruption magnitude vs particle size.</a:t>
            </a:r>
          </a:p>
          <a:p>
            <a:pPr>
              <a:defRPr sz="1800"/>
            </a:pPr>
            <a:r>
              <a:t>All five reinforce the same story: size-dependent, non-additive, monocyte-centred.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Additional analyses: stress/inflammation module scores</a:t>
            </a:r>
          </a:p>
        </p:txBody>
      </p:sp>
      <p:pic>
        <p:nvPicPr>
          <p:cNvPr id="3" name="Picture 2" descr="07_modul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347" y="1371600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Analysis 1 of 5. Per-sample mean module scores for stress and inflammation gene programs.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Additional analyses: mixture additivity</a:t>
            </a:r>
          </a:p>
        </p:txBody>
      </p:sp>
      <p:pic>
        <p:nvPicPr>
          <p:cNvPr id="3" name="Picture 2" descr="07_mixture_add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11582"/>
            <a:ext cx="11460175" cy="2292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Analysis 2 of 5. Observed mixture response vs the 40+200 nm additive expectation, per lineage.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Additional analyses: robustness &amp; communication</a:t>
            </a:r>
          </a:p>
        </p:txBody>
      </p:sp>
      <p:pic>
        <p:nvPicPr>
          <p:cNvPr id="3" name="Picture 2" descr="07_clusterin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93290"/>
            <a:ext cx="5592927" cy="3728618"/>
          </a:xfrm>
          <a:prstGeom prst="rect">
            <a:avLst/>
          </a:prstGeom>
        </p:spPr>
      </p:pic>
      <p:pic>
        <p:nvPicPr>
          <p:cNvPr id="4" name="Picture 3" descr="07_ligand_recep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909810"/>
            <a:ext cx="5592927" cy="34955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Analyses 3 &amp; 4 of 5. Left: clustering robustness (ARI across Leiden resolutions). Right: ligand-receptor communication shift on exposure. (Analysis 5, dose-response, is on the DE slide.)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Limitations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One donor, one sample per condition -&gt; NO biological replicates.</a:t>
            </a:r>
          </a:p>
          <a:p>
            <a:pPr>
              <a:defRPr sz="1800"/>
            </a:pPr>
            <a:r>
              <a:t>DE is cell-level Wilcoxon (not pseudobulk); p-values exploratory, pseudoreplication caveat.</a:t>
            </a:r>
          </a:p>
          <a:p>
            <a:pPr>
              <a:defRPr sz="1800"/>
            </a:pPr>
            <a:r>
              <a:t>No external gene-level ground truth; DE validated internally + biologically.</a:t>
            </a:r>
          </a:p>
          <a:p>
            <a:pPr>
              <a:defRPr sz="1800"/>
            </a:pPr>
            <a:r>
              <a:t>Everything reproduces: `python run_pipeline.py --all`; 37 offline intent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
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I'm Vuk Djordjevic, master's student at the School of Electrical Engineering, Genome Informatics 2026. This is a single-cell RNA-seq study of how human immune cells respond to nanoplastic particles of different sizes. The core question: does particle size matter, and does a mixture of sizes do something neither size does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4 samples from one donor: peripheral blood immune cells exposed to 40 nm particles, 200 nm particles, a 40+200 nm mixture, and an unexposed control. About 34,000 cells total. Be upfront: one donor, one sample per condition, so no biological replicates -- that shaped the statistics and I flag it throughout.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analysis is one pipeline of six stages: QC, integration, annotation, composition, differential expression, and size-specific effects. A single command reproduces all of it from raw data, and each stage has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three 'violin' plots side by side, one per quality check. A violin is just a histogram turned on its side and mirrored -- fatter where more cells sit. Along the bottom of each are my four samples (40 nm, 200 nm, mixture, control). Left panel = how many genes each cell expressed, middle = total reads per cell, right = percent of reads coming from mitochondria (a sign of a dying cell). What to say: this is AFTER cleaning. The shapes look healthy and similar across all four samples -- no sample is junk. I set the cutoffs from the real data, not by guessing: drop cells with too many genes (likely two cells stuck together) or too much mitochondria (dying).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every dot is one cell. Left-to-right is how many reads the cell has; bottom-to-top is how mitochondrial it is. The red dashed line is my cutoff at 15 percent mito. What to say: almost all cells form a dense cloud hugging the bottom -- low mito, which is what healthy cells look like. The handful of dots floating up above the red line are dying or broken cells, and those get thrown out. This is the same cleaning as the previous slide, just drawn as a cloud so you can see the cutoff.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both pictures are a UMAP -- think of it as squashing each cell's thousands of genes down to a single dot on a 2D map, so that cells with similar genes land near each other. The axes are just map coordinates, no units; only closeness matters. Each dot is a cell, coloured by which sample it came from. What to say: I want the colours to be MIXED -- if cells clumped by colour it would mean the sample it came from matters more than its biology, which is a technical artefact. On both sides here the colours are already well blended, so batches line up and cells group by TYPE, not by sample. (Honest caveat: one sample per condition, so for the gene results later I use the uncorrected data to stay safe.)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LEFT is the same cell-map, now coloured by what KIND of immune cell each dot is. You can literally see the neighbourhoods: T cells are the big purple mass on the right, monocytes the orange island top-left, B cells blue at the bottom, NK cells green. Clean separate islands = the cell types are real and distinct. RIGHT is a dot-plot that PROVES the labels: rows are cell clusters, columns are famous marker genes (e.g. CD3D for T cells, CD14 for monocytes). A big dark dot means 'this gene is strongly on in this cluster'. The dark dots line up on the diagonal, i.e. each cluster lights up its own known marker. What to say: I labelled with a tool called celltypist and it agreed with two other independent methods at about 93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this asks 'did exposure change HOW MANY of each cell type there are?' The bars show what fraction of a sample is each cell type; the four coloured bars in each group are the four samples. What to say: T cells dominate every sample (the tall bars on the right, ~80 percent) -- that's normal for blood. The eye-catch is the Monocyte group: the 200 nm bar (green) is noticeably taller than the others, roughly two-and-a-half times the control's monocyte fraction, while everything else barely moves. So 200 nm exposure specifically bumps up monocytes. No replicates, so I call this a descriptive shift, not a p-value.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you're looking at: two bar charts. Both use bar HEIGHT = number of genes that significantly changed (taller = bigger reaction). LEFT groups by condition (40 nm, 200 nm, mixture), coloured by cell type. The story jumps out: the orange Monocyte bars tower over everything -- monocytes are the cells that eat foreign junk, so they react hardest -- and 200 nm is taller than 40 nm, meaning bigger particles, bigger response. RIGHT zooms into WHERE those genes overlap. For each cell type, four bars: genes that react only to 40 nm (blue), only to 200 nm (orange), to both (green), and the key one, RED = genes that fire ONLY in the mixture and in neither size alone. What to say: look at Monocyte -- that red bar is about 180 genes, a whole response that only appears when both sizes are combined.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Three points: monocytes respond strongest; 200 nm drives more lineage-unique genes than 40 nm; and the 40+200 nm mixture produces an emergent monocyte response -- about 180 genes significant only in the mixture, in neither single size. In lymphocytes the opposite happens: the mixture is weaker than either size alone. So the combination of sizes does something the individual sizes do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that new thing? I ran pathway enrichment on the 180 mixture-only monocyte genes and it points clearly at inflammation. Top pathways, adjusted p about 1e-21: interleukin, cytokine and TNF signalling, plus 'response to lipopolysaccharide' -- the program a monocyte runs during a bacterial infection, here set off by plastic. Strongest genes up are RIPK2 and TRAF1, core innate-immune and TNF genes. Reading: 40 and 200 nm each cause sub-threshold changes, but together they push monocytes over an inflammatory threshold. Real exposure is always to mixtures, so single-size testing may under-estimate the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additional-insights part I implemented five extra analyses; this slide lists them and the next slides show each. Module scoring, mixture additivity, clustering robustness, ligand-receptor communication, and dose-response. All five point the same way: a size-dependent, non-additive response centred on monocytes.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1 of 5. What you're looking at: a colour grid (heatmap). Each ROW is a sample, each COLUMN is a biological 'program' -- a named group of genes (oxidative stress, NF-kB inflammation, interferon, heat shock). Red = that program is turned UP in that sample, blue = turned down, white = neutral. What to say: the whole left column, oxidative stress, goes deep red in all three exposed samples but not the control -- so plastic reliably stresses the cells. And the NF-kB inflammation column turns pink specifically under 200 nm. So the size effect I keep pointing at shows up here too, in independent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2 of 5 -- the direct test of 'is the mixture just 40 plus 200?'. What you're looking at: one scatter per cell type. Each dot is a gene. Left-to-right is what I'd PREDICT if the mixture were simply the two sizes added together; bottom-to-top is what the mixture ACTUALLY did. The red diagonal line is 'prediction was perfect'. What to say: if everything sat on the line, the mixture would be boringly additive. But look at the Monocyte panel -- there are clear blobs of genes sitting OFF the line, especially the arms pointing up-and-left and the flat streaks near zero. Those are genes the mixture switched on (or off) that you'd never predict from the single sizes. That off-the-line behaviour IS the emergent, non-additive effect.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Analyses 3 and 4, two plots. LEFT is a sanity check on my clustering. Bottom axis = how finely I chose to cut the cells into groups ('resolution'). Blue line (rising) = you get more clusters if you cut finer -- obvious. The one that matters is the GREEN dashed line: how much the grouping still agrees with my default setting, where 1.0 = identical. It stays high near my chosen resolution of 1.0, so my cell groups aren't a fluke of one knob setting. RIGHT is cell-to-cell messaging. Each row is a signalling pair (a messenger and its receptor); bars go RIGHT if that message got louder after exposure, LEFT if quieter. What to say: the standout is IL1B-IL1R1, a classic inflammation alarm signal, shooting far right in all exposed samples and furthest under 200 nm -- so the cells aren't just changing internally, they're shouting inflammation at each other. (Analysis 5, dose-response, was the left chart on the earlier DE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limits, stated plainly: one donor and no replicates mean the differential expression is per-cell and exploratory, with a pseudoreplication caveat. No external gene-level reference, so I validated internally and biologically. Everything reproduces from the repository with a single command and a 37-test suite.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65760" y="2130425"/>
            <a:ext cx="11460175" cy="1470025"/>
          </a:xfrm>
        </p:spPr>
        <p:txBody>
          <a:bodyPr/>
          <a:lstStyle/>
          <a:p>
            <a:r>
              <a:t>Single-Cell Immune Response to Nanoplastic Particles</a:t>
            </a:r>
          </a:p>
        </p:txBody>
      </p:sp>
      <p:sp>
        <p:nvSpPr>
          <p:cNvPr id="3" name="Subtitle 2"/>
          <p:cNvSpPr>
            <a:spLocks noGrp="1"/>
          </p:cNvSpPr>
          <p:nvPr>
            <p:ph type="subTitle" idx="1"/>
          </p:nvPr>
        </p:nvSpPr>
        <p:spPr>
          <a:xfrm>
            <a:off x="365760" y="3886200"/>
            <a:ext cx="11460175" cy="1752600"/>
          </a:xfrm>
        </p:spPr>
        <p:txBody>
          <a:bodyPr/>
          <a:lstStyle/>
          <a:p>
            <a:r>
              <a:t>scRNA-seq of human PBMCs exposed to 40 nm / 200 nm / mixed polystyrene nanoparticles vs control  -  Genomics Informatics, ETF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Question &amp; dataset</a:t>
            </a:r>
          </a:p>
        </p:txBody>
      </p:sp>
      <p:sp>
        <p:nvSpPr>
          <p:cNvPr id="3" name="Content Placeholder 2"/>
          <p:cNvSpPr>
            <a:spLocks noGrp="1"/>
          </p:cNvSpPr>
          <p:nvPr>
            <p:ph idx="1"/>
          </p:nvPr>
        </p:nvSpPr>
        <p:spPr>
          <a:xfrm>
            <a:off x="365760" y="1600200"/>
            <a:ext cx="11460175" cy="4525963"/>
          </a:xfrm>
        </p:spPr>
        <p:txBody>
          <a:bodyPr/>
          <a:lstStyle/>
          <a:p>
            <a:pPr>
              <a:defRPr sz="1800"/>
            </a:pPr>
            <a:r>
              <a:t>Do small vs large nanoplastics provoke different immune responses?</a:t>
            </a:r>
          </a:p>
          <a:p>
            <a:pPr>
              <a:defRPr sz="1800"/>
            </a:pPr>
            <a:r>
              <a:t>Does the 40+200 nm mixture do something neither size does alone?</a:t>
            </a:r>
          </a:p>
          <a:p>
            <a:pPr>
              <a:defRPr sz="1800"/>
            </a:pPr>
            <a:r>
              <a:t>4 samples, one donor: PSNP_40nm, PSNP_200nm, PSNP_mixture, control</a:t>
            </a:r>
          </a:p>
          <a:p>
            <a:pPr>
              <a:defRPr sz="1800"/>
            </a:pPr>
            <a:r>
              <a:t>~34,000 PBMCs, AnnData/.h5ad (Zenodo 10.5281/zenodo.15866724)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Pipeline (6 stages, one reproducible driver)</a:t>
            </a:r>
          </a:p>
        </p:txBody>
      </p:sp>
      <p:sp>
        <p:nvSpPr>
          <p:cNvPr id="3" name="Content Placeholder 2"/>
          <p:cNvSpPr>
            <a:spLocks noGrp="1"/>
          </p:cNvSpPr>
          <p:nvPr>
            <p:ph idx="1"/>
          </p:nvPr>
        </p:nvSpPr>
        <p:spPr>
          <a:xfrm>
            <a:off x="365760" y="1600200"/>
            <a:ext cx="11460175" cy="4525963"/>
          </a:xfrm>
        </p:spPr>
        <p:txBody>
          <a:bodyPr/>
          <a:lstStyle/>
          <a:p>
            <a:pPr>
              <a:defRPr sz="1800"/>
            </a:pPr>
            <a:r>
              <a:t>1. QC &amp; preprocessing  -  thresholds justified on real percentiles</a:t>
            </a:r>
          </a:p>
          <a:p>
            <a:pPr>
              <a:defRPr sz="1800"/>
            </a:pPr>
            <a:r>
              <a:t>2. Integration  -  Harmony batch correction, UMAP, Leiden</a:t>
            </a:r>
          </a:p>
          <a:p>
            <a:pPr>
              <a:defRPr sz="1800"/>
            </a:pPr>
            <a:r>
              <a:t>3. Annotation  -  celltypist, cross-checked vs Azimuth &amp; CoDi (~93%)</a:t>
            </a:r>
          </a:p>
          <a:p>
            <a:pPr>
              <a:defRPr sz="1800"/>
            </a:pPr>
            <a:r>
              <a:t>4. Composition  -  proportions + log2 fold-change vs control</a:t>
            </a:r>
          </a:p>
          <a:p>
            <a:pPr>
              <a:defRPr sz="1800"/>
            </a:pPr>
            <a:r>
              <a:t>5. Differential expression  -  per-lineage Wilcoxon + pathway enrichment</a:t>
            </a:r>
          </a:p>
          <a:p>
            <a:pPr>
              <a:defRPr sz="1800"/>
            </a:pPr>
            <a:r>
              <a:t>6. Size-specific effects  -  unique / shared / mixture-emergent genes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(1/2): per-sample QC metrics</a:t>
            </a:r>
          </a:p>
        </p:txBody>
      </p:sp>
      <p:pic>
        <p:nvPicPr>
          <p:cNvPr id="3" name="Picture 2" descr="01_qc_violin_after.png"/>
          <p:cNvPicPr>
            <a:picLocks noChangeAspect="1"/>
          </p:cNvPicPr>
          <p:nvPr/>
        </p:nvPicPr>
        <p:blipFill>
          <a:blip r:embed="rId2"/>
          <a:stretch>
            <a:fillRect/>
          </a:stretch>
        </p:blipFill>
        <p:spPr>
          <a:xfrm>
            <a:off x="365760" y="2129576"/>
            <a:ext cx="11460175" cy="3056046"/>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Violins of the 3 QC metrics after filtering. Thresholds justified on the real distribution (max_genes ~p99, max_mito between p95-p99).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(2/2): counts vs %mito</a:t>
            </a:r>
          </a:p>
        </p:txBody>
      </p:sp>
      <p:pic>
        <p:nvPicPr>
          <p:cNvPr id="3" name="Picture 2" descr="01_qc_scatter_counts_mito.png"/>
          <p:cNvPicPr>
            <a:picLocks noChangeAspect="1"/>
          </p:cNvPicPr>
          <p:nvPr/>
        </p:nvPicPr>
        <p:blipFill>
          <a:blip r:embed="rId2"/>
          <a:stretch>
            <a:fillRect/>
          </a:stretch>
        </p:blipFill>
        <p:spPr>
          <a:xfrm>
            <a:off x="3428847" y="1371600"/>
            <a:ext cx="5334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total_counts vs %mito (pre-filter); threshold lines drawn. Drops likely doublets and dying cells.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Integration removes the batch effect</a:t>
            </a:r>
          </a:p>
        </p:txBody>
      </p:sp>
      <p:pic>
        <p:nvPicPr>
          <p:cNvPr id="3" name="Picture 2" descr="02_umap_pre_harmony_by_sample.png"/>
          <p:cNvPicPr>
            <a:picLocks noChangeAspect="1"/>
          </p:cNvPicPr>
          <p:nvPr/>
        </p:nvPicPr>
        <p:blipFill>
          <a:blip r:embed="rId2"/>
          <a:stretch>
            <a:fillRect/>
          </a:stretch>
        </p:blipFill>
        <p:spPr>
          <a:xfrm>
            <a:off x="495223" y="1371600"/>
            <a:ext cx="5334000" cy="4572000"/>
          </a:xfrm>
          <a:prstGeom prst="rect">
            <a:avLst/>
          </a:prstGeom>
        </p:spPr>
      </p:pic>
      <p:pic>
        <p:nvPicPr>
          <p:cNvPr id="4" name="Picture 3" descr="02_umap_by_sample.png"/>
          <p:cNvPicPr>
            <a:picLocks noChangeAspect="1"/>
          </p:cNvPicPr>
          <p:nvPr/>
        </p:nvPicPr>
        <p:blipFill>
          <a:blip r:embed="rId3"/>
          <a:stretch>
            <a:fillRect/>
          </a:stretch>
        </p:blipFill>
        <p:spPr>
          <a:xfrm>
            <a:off x="6362471" y="1371600"/>
            <a:ext cx="5334000" cy="4572000"/>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Before (left) vs after Harmony (right), coloured by sample: samples mix after correction.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Cell-type annotation</a:t>
            </a:r>
          </a:p>
        </p:txBody>
      </p:sp>
      <p:pic>
        <p:nvPicPr>
          <p:cNvPr id="3" name="Picture 2" descr="03_umap_lineage.png"/>
          <p:cNvPicPr>
            <a:picLocks noChangeAspect="1"/>
          </p:cNvPicPr>
          <p:nvPr/>
        </p:nvPicPr>
        <p:blipFill>
          <a:blip r:embed="rId2"/>
          <a:stretch>
            <a:fillRect/>
          </a:stretch>
        </p:blipFill>
        <p:spPr>
          <a:xfrm>
            <a:off x="365760" y="1560252"/>
            <a:ext cx="5592927" cy="4194695"/>
          </a:xfrm>
          <a:prstGeom prst="rect">
            <a:avLst/>
          </a:prstGeom>
        </p:spPr>
      </p:pic>
      <p:pic>
        <p:nvPicPr>
          <p:cNvPr id="4" name="Picture 3" descr="03_marker_dotplot.png"/>
          <p:cNvPicPr>
            <a:picLocks noChangeAspect="1"/>
          </p:cNvPicPr>
          <p:nvPr/>
        </p:nvPicPr>
        <p:blipFill>
          <a:blip r:embed="rId3"/>
          <a:stretch>
            <a:fillRect/>
          </a:stretch>
        </p:blipFill>
        <p:spPr>
          <a:xfrm>
            <a:off x="6233007" y="1454047"/>
            <a:ext cx="5592927" cy="4407104"/>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celltypist lineages; agreement with Azimuth 92.7% and CoDi 93.1% (independent references).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Composition shifts vs control</a:t>
            </a:r>
          </a:p>
        </p:txBody>
      </p:sp>
      <p:pic>
        <p:nvPicPr>
          <p:cNvPr id="3" name="Picture 2" descr="04_composition_stacked.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4_composition_grouped.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Cell-type proportions per sample; PSNP_200nm shows the largest compositional shift.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Differential expression: dose-response</a:t>
            </a:r>
          </a:p>
        </p:txBody>
      </p:sp>
      <p:pic>
        <p:nvPicPr>
          <p:cNvPr id="3" name="Picture 2" descr="07_dose_response.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6_size_categories.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Monocytes respond most; 200 nm drives more unique genes than 40 nm; mixture-emergent in monocytes.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Key biological finding</a:t>
            </a:r>
          </a:p>
        </p:txBody>
      </p:sp>
      <p:sp>
        <p:nvSpPr>
          <p:cNvPr id="3" name="Content Placeholder 2"/>
          <p:cNvSpPr>
            <a:spLocks noGrp="1"/>
          </p:cNvSpPr>
          <p:nvPr>
            <p:ph idx="1"/>
          </p:nvPr>
        </p:nvSpPr>
        <p:spPr>
          <a:xfrm>
            <a:off x="365760" y="1600200"/>
            <a:ext cx="11460175" cy="4525963"/>
          </a:xfrm>
        </p:spPr>
        <p:txBody>
          <a:bodyPr/>
          <a:lstStyle/>
          <a:p>
            <a:pPr>
              <a:defRPr sz="1800"/>
            </a:pPr>
            <a:r>
              <a:t>Monocytes show the strongest transcriptional response to nanoplastic.</a:t>
            </a:r>
          </a:p>
          <a:p>
            <a:pPr>
              <a:defRPr sz="1800"/>
            </a:pPr>
            <a:r>
              <a:t>200 nm particles drive MORE lineage-unique genes than 40 nm.</a:t>
            </a:r>
          </a:p>
          <a:p>
            <a:pPr>
              <a:defRPr sz="1800"/>
            </a:pPr>
            <a:r>
              <a:t>The 40+200 nm mixture produces an EMERGENT monocyte response -</a:t>
            </a:r>
          </a:p>
          <a:p>
            <a:pPr>
              <a:defRPr sz="1800"/>
            </a:pPr>
            <a:r>
              <a:t>  genes significant only in the mixture, in neither single size.</a:t>
            </a:r>
          </a:p>
          <a:p>
            <a:pPr>
              <a:defRPr sz="1800"/>
            </a:pPr>
            <a:r>
              <a:t>In lymphocytes the mixture is weaker than either size (sub-additive).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What the mixture does: emergent inflammation</a:t>
            </a:r>
          </a:p>
        </p:txBody>
      </p:sp>
      <p:sp>
        <p:nvSpPr>
          <p:cNvPr id="3" name="Content Placeholder 2"/>
          <p:cNvSpPr>
            <a:spLocks noGrp="1"/>
          </p:cNvSpPr>
          <p:nvPr>
            <p:ph idx="1"/>
          </p:nvPr>
        </p:nvSpPr>
        <p:spPr>
          <a:xfrm>
            <a:off x="365760" y="1600200"/>
            <a:ext cx="11460175" cy="4525963"/>
          </a:xfrm>
        </p:spPr>
        <p:txBody>
          <a:bodyPr/>
          <a:lstStyle/>
          <a:p>
            <a:pPr>
              <a:defRPr sz="1800"/>
            </a:pPr>
            <a:r>
              <a:t>The 180 mixture-only monocyte genes are dominated by INFLAMMATION.</a:t>
            </a:r>
          </a:p>
          <a:p>
            <a:pPr>
              <a:defRPr sz="1800"/>
            </a:pPr>
            <a:r>
              <a:t>Pathway enrichment (p ~ 1e-21): interleukin, cytokine &amp; TNF signalling,</a:t>
            </a:r>
          </a:p>
          <a:p>
            <a:pPr>
              <a:defRPr sz="1800"/>
            </a:pPr>
            <a:r>
              <a:t>  and 'response to lipopolysaccharide' - i.e. a bacterial-attack-like program.</a:t>
            </a:r>
          </a:p>
          <a:p>
            <a:pPr>
              <a:defRPr sz="1800"/>
            </a:pPr>
            <a:r>
              <a:t>Top mixture-only genes up: RIPK2, TRAF1, PIK3CB (innate/TNF signalling).</a:t>
            </a:r>
          </a:p>
          <a:p>
            <a:pPr>
              <a:defRPr sz="1800"/>
            </a:pPr>
            <a:r>
              <a:t>Interpretation: two sub-threshold exposures together push monocytes over</a:t>
            </a:r>
          </a:p>
          <a:p>
            <a:pPr>
              <a:defRPr sz="1800"/>
            </a:pPr>
            <a:r>
              <a:t>  an inflammatory activation threshold - an emergent, non-additive effect.</a:t>
            </a:r>
          </a:p>
          <a:p>
            <a:pPr>
              <a:defRPr sz="1800"/>
            </a:pPr>
            <a:r>
              <a:t>Real exposure is always to mixtures -&gt; single-size studies may under-estimate risk.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(5 implemented)</a:t>
            </a:r>
          </a:p>
        </p:txBody>
      </p:sp>
      <p:sp>
        <p:nvSpPr>
          <p:cNvPr id="3" name="Content Placeholder 2"/>
          <p:cNvSpPr>
            <a:spLocks noGrp="1"/>
          </p:cNvSpPr>
          <p:nvPr>
            <p:ph idx="1"/>
          </p:nvPr>
        </p:nvSpPr>
        <p:spPr>
          <a:xfrm>
            <a:off x="365760" y="1600200"/>
            <a:ext cx="11460175" cy="4525963"/>
          </a:xfrm>
        </p:spPr>
        <p:txBody>
          <a:bodyPr/>
          <a:lstStyle/>
          <a:p>
            <a:pPr>
              <a:defRPr sz="1800"/>
            </a:pPr>
            <a:r>
              <a:t>1. Module scoring - stress &amp; inflammation gene programs per sample (shown next).</a:t>
            </a:r>
          </a:p>
          <a:p>
            <a:pPr>
              <a:defRPr sz="1800"/>
            </a:pPr>
            <a:r>
              <a:t>2. Mixture additivity - is the mixture = 40nm + 200nm? (shown next).</a:t>
            </a:r>
          </a:p>
          <a:p>
            <a:pPr>
              <a:defRPr sz="1800"/>
            </a:pPr>
            <a:r>
              <a:t>3. Clustering robustness - clusters stable across Leiden resolutions (ARI).</a:t>
            </a:r>
          </a:p>
          <a:p>
            <a:pPr>
              <a:defRPr sz="1800"/>
            </a:pPr>
            <a:r>
              <a:t>4. Ligand-receptor - shift in cell-to-cell communication on exposure.</a:t>
            </a:r>
          </a:p>
          <a:p>
            <a:pPr>
              <a:defRPr sz="1800"/>
            </a:pPr>
            <a:r>
              <a:t>5. Dose-response - disruption magnitude vs particle size.</a:t>
            </a:r>
          </a:p>
          <a:p>
            <a:pPr>
              <a:defRPr sz="1800"/>
            </a:pPr>
            <a:r>
              <a:t>All five reinforce the same story: size-dependent, non-additive, monocyte-centred.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stress/inflammation module scores</a:t>
            </a:r>
          </a:p>
        </p:txBody>
      </p:sp>
      <p:pic>
        <p:nvPicPr>
          <p:cNvPr id="3" name="Picture 2" descr="07_module_scores.png"/>
          <p:cNvPicPr>
            <a:picLocks noChangeAspect="1"/>
          </p:cNvPicPr>
          <p:nvPr/>
        </p:nvPicPr>
        <p:blipFill>
          <a:blip r:embed="rId2"/>
          <a:stretch>
            <a:fillRect/>
          </a:stretch>
        </p:blipFill>
        <p:spPr>
          <a:xfrm>
            <a:off x="2095347" y="1371600"/>
            <a:ext cx="8001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1 of 5. Per-sample mean module scores for stress and inflammation gene programs.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mixture additivity</a:t>
            </a:r>
          </a:p>
        </p:txBody>
      </p:sp>
      <p:pic>
        <p:nvPicPr>
          <p:cNvPr id="3" name="Picture 2" descr="07_mixture_additivity.png"/>
          <p:cNvPicPr>
            <a:picLocks noChangeAspect="1"/>
          </p:cNvPicPr>
          <p:nvPr/>
        </p:nvPicPr>
        <p:blipFill>
          <a:blip r:embed="rId2"/>
          <a:stretch>
            <a:fillRect/>
          </a:stretch>
        </p:blipFill>
        <p:spPr>
          <a:xfrm>
            <a:off x="365760" y="2511582"/>
            <a:ext cx="11460175" cy="2292035"/>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2 of 5. Observed mixture response vs the 40+200 nm additive expectation, per lineage.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robustness &amp; communication</a:t>
            </a:r>
          </a:p>
        </p:txBody>
      </p:sp>
      <p:pic>
        <p:nvPicPr>
          <p:cNvPr id="3" name="Picture 2" descr="07_clustering_robustness.png"/>
          <p:cNvPicPr>
            <a:picLocks noChangeAspect="1"/>
          </p:cNvPicPr>
          <p:nvPr/>
        </p:nvPicPr>
        <p:blipFill>
          <a:blip r:embed="rId2"/>
          <a:stretch>
            <a:fillRect/>
          </a:stretch>
        </p:blipFill>
        <p:spPr>
          <a:xfrm>
            <a:off x="365760" y="1793290"/>
            <a:ext cx="5592927" cy="3728618"/>
          </a:xfrm>
          <a:prstGeom prst="rect">
            <a:avLst/>
          </a:prstGeom>
        </p:spPr>
      </p:pic>
      <p:pic>
        <p:nvPicPr>
          <p:cNvPr id="4" name="Picture 3" descr="07_ligand_receptor.png"/>
          <p:cNvPicPr>
            <a:picLocks noChangeAspect="1"/>
          </p:cNvPicPr>
          <p:nvPr/>
        </p:nvPicPr>
        <p:blipFill>
          <a:blip r:embed="rId3"/>
          <a:stretch>
            <a:fillRect/>
          </a:stretch>
        </p:blipFill>
        <p:spPr>
          <a:xfrm>
            <a:off x="6233007" y="1909810"/>
            <a:ext cx="5592927" cy="3495579"/>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Analyses 3 &amp; 4 of 5. Left: clustering robustness (ARI across Leiden resolutions). Right: ligand-receptor communication shift on exposure. (Analysis 5, dose-response, is on the DE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Limitations &amp; reproducibility</a:t>
            </a:r>
          </a:p>
        </p:txBody>
      </p:sp>
      <p:sp>
        <p:nvSpPr>
          <p:cNvPr id="3" name="Content Placeholder 2"/>
          <p:cNvSpPr>
            <a:spLocks noGrp="1"/>
          </p:cNvSpPr>
          <p:nvPr>
            <p:ph idx="1"/>
          </p:nvPr>
        </p:nvSpPr>
        <p:spPr>
          <a:xfrm>
            <a:off x="365760" y="1600200"/>
            <a:ext cx="11460175" cy="4525963"/>
          </a:xfrm>
        </p:spPr>
        <p:txBody>
          <a:bodyPr/>
          <a:lstStyle/>
          <a:p>
            <a:pPr>
              <a:defRPr sz="1800"/>
            </a:pPr>
            <a:r>
              <a:t>One donor, one sample per condition -&gt; NO biological replicates.</a:t>
            </a:r>
          </a:p>
          <a:p>
            <a:pPr>
              <a:defRPr sz="1800"/>
            </a:pPr>
            <a:r>
              <a:t>DE is cell-level Wilcoxon (not pseudobulk); p-values exploratory, pseudoreplication caveat.</a:t>
            </a:r>
          </a:p>
          <a:p>
            <a:pPr>
              <a:defRPr sz="1800"/>
            </a:pPr>
            <a:r>
              <a:t>No external gene-level ground truth; DE validated internally + biologically.</a:t>
            </a:r>
          </a:p>
          <a:p>
            <a:pPr>
              <a:defRPr sz="1800"/>
            </a:pPr>
            <a:r>
              <a:t>Everything reproduces: `python run_pipeline.py --all`; 37 offline intent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
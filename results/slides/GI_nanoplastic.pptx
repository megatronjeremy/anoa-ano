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654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60" y="2130425"/>
            <a:ext cx="11460175" cy="1470025"/>
          </a:xfrm>
        </p:spPr>
        <p:txBody>
          <a:bodyPr/>
          <a:lstStyle/>
          <a:p>
            <a:r>
              <a:t>Single-Cell Immune Response to Nanoplastic Particles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5760" y="3886200"/>
            <a:ext cx="11460175" cy="1752600"/>
          </a:xfrm>
        </p:spPr>
        <p:txBody>
          <a:bodyPr/>
          <a:lstStyle/>
          <a:p>
            <a:r>
              <a:rPr dirty="0" err="1"/>
              <a:t>scRNA</a:t>
            </a:r>
            <a:r>
              <a:rPr dirty="0"/>
              <a:t>-seq of human PBMCs exposed to </a:t>
            </a:r>
            <a:br>
              <a:rPr lang="en-US" dirty="0"/>
            </a:br>
            <a:r>
              <a:rPr dirty="0"/>
              <a:t>40 nm / 200 nm / mixed polystyrene nanoparticles vs control </a:t>
            </a:r>
            <a:endParaRPr lang="en-US" dirty="0"/>
          </a:p>
          <a:p>
            <a:r>
              <a:rPr dirty="0"/>
              <a:t>Genom</a:t>
            </a:r>
            <a:r>
              <a:rPr lang="en-US" dirty="0"/>
              <a:t>e</a:t>
            </a:r>
            <a:r>
              <a:rPr dirty="0"/>
              <a:t> Informatics, ETF</a:t>
            </a:r>
            <a:r>
              <a:rPr lang="en-US" dirty="0"/>
              <a:t> Belgrade,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Question &amp;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600200"/>
            <a:ext cx="11460175" cy="4525963"/>
          </a:xfrm>
        </p:spPr>
        <p:txBody>
          <a:bodyPr>
            <a:normAutofit/>
          </a:bodyPr>
          <a:lstStyle/>
          <a:p>
            <a:pPr>
              <a:defRPr sz="1800"/>
            </a:pPr>
            <a:r>
              <a:rPr sz="2400" dirty="0"/>
              <a:t>Do small vs large </a:t>
            </a:r>
            <a:r>
              <a:rPr sz="2400" dirty="0" err="1"/>
              <a:t>nanoplastics</a:t>
            </a:r>
            <a:r>
              <a:rPr sz="2400" dirty="0"/>
              <a:t> provoke different immune responses?</a:t>
            </a:r>
          </a:p>
          <a:p>
            <a:pPr>
              <a:defRPr sz="1800"/>
            </a:pPr>
            <a:r>
              <a:rPr sz="2400" dirty="0"/>
              <a:t>Does the 40+200 nm mixture do something neither size does alone?</a:t>
            </a:r>
          </a:p>
          <a:p>
            <a:pPr>
              <a:defRPr sz="1800"/>
            </a:pPr>
            <a:r>
              <a:rPr sz="2400" dirty="0"/>
              <a:t>4 samples, one donor: PSNP_40nm, PSNP_200nm, </a:t>
            </a:r>
            <a:r>
              <a:rPr sz="2400" dirty="0" err="1"/>
              <a:t>PSNP_mixture</a:t>
            </a:r>
            <a:r>
              <a:rPr sz="2400" dirty="0"/>
              <a:t>, control</a:t>
            </a:r>
          </a:p>
          <a:p>
            <a:pPr>
              <a:defRPr sz="1800"/>
            </a:pPr>
            <a:r>
              <a:rPr sz="2400" dirty="0"/>
              <a:t>~34,000 PBMCs, </a:t>
            </a:r>
            <a:r>
              <a:rPr sz="2400" dirty="0" err="1"/>
              <a:t>AnnData</a:t>
            </a:r>
            <a:r>
              <a:rPr sz="2400" dirty="0"/>
              <a:t>/.h5ad (</a:t>
            </a:r>
            <a:r>
              <a:rPr sz="2400" dirty="0" err="1"/>
              <a:t>Zenodo</a:t>
            </a:r>
            <a:r>
              <a:rPr sz="2400" dirty="0"/>
              <a:t> 10.5281/zenodo.15866724)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Pipeline (6 stages, one reproducible driver)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600200"/>
            <a:ext cx="11460175" cy="4525963"/>
          </a:xfrm>
        </p:spPr>
        <p:txBody>
          <a:bodyPr>
            <a:normAutofit/>
          </a:bodyPr>
          <a:lstStyle/>
          <a:p>
            <a:pPr>
              <a:defRPr sz="1800"/>
            </a:pPr>
            <a:r>
              <a:rPr sz="2400" dirty="0"/>
              <a:t>1. QC &amp; preprocessing  -  thresholds justified on real percentiles</a:t>
            </a:r>
          </a:p>
          <a:p>
            <a:pPr>
              <a:defRPr sz="1800"/>
            </a:pPr>
            <a:r>
              <a:rPr sz="2400" dirty="0"/>
              <a:t>2. Integration  -  Harmony batch correction, UMAP, Leiden</a:t>
            </a:r>
          </a:p>
          <a:p>
            <a:pPr>
              <a:defRPr sz="1800"/>
            </a:pPr>
            <a:r>
              <a:rPr sz="2400" dirty="0"/>
              <a:t>3. Annotation  -  </a:t>
            </a:r>
            <a:r>
              <a:rPr sz="2400" dirty="0" err="1"/>
              <a:t>celltypist</a:t>
            </a:r>
            <a:r>
              <a:rPr sz="2400" dirty="0"/>
              <a:t>, cross-checked vs Azimuth &amp; </a:t>
            </a:r>
            <a:r>
              <a:rPr sz="2400" dirty="0" err="1"/>
              <a:t>CoDi</a:t>
            </a:r>
            <a:r>
              <a:rPr sz="2400" dirty="0"/>
              <a:t> (~93%)</a:t>
            </a:r>
          </a:p>
          <a:p>
            <a:pPr>
              <a:defRPr sz="1800"/>
            </a:pPr>
            <a:r>
              <a:rPr sz="2400" dirty="0"/>
              <a:t>4. Composition  -  proportions + log2 fold-change vs control</a:t>
            </a:r>
          </a:p>
          <a:p>
            <a:pPr>
              <a:defRPr sz="1800"/>
            </a:pPr>
            <a:r>
              <a:rPr sz="2400" dirty="0"/>
              <a:t>5. Differential expression  -  per-lineage Wilcoxon + pathway enrichment</a:t>
            </a:r>
          </a:p>
          <a:p>
            <a:pPr>
              <a:defRPr sz="1800"/>
            </a:pPr>
            <a:r>
              <a:rPr sz="2400" dirty="0"/>
              <a:t>6. Size-specific effects  -  unique / shared / mixture-emergent genes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rPr dirty="0"/>
              <a:t>QC &amp; preprocessing (1/2): per-sample QC metrics</a:t>
            </a:r>
          </a:p>
        </p:txBody>
      </p:sp>
      <p:pic>
        <p:nvPicPr>
          <p:cNvPr id="3" name="Picture 2" descr="01_qc_violin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29576"/>
            <a:ext cx="11460175" cy="305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Violins of the 3 QC metrics after filtering. Thresholds justified on the real distribution (max_genes ~p99, max_mito between p95-p99).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QC &amp; preprocessing (2/2): counts vs %mito</a:t>
            </a:r>
          </a:p>
        </p:txBody>
      </p:sp>
      <p:pic>
        <p:nvPicPr>
          <p:cNvPr id="3" name="Picture 2" descr="01_qc_scatter_counts_mi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8847" y="1371600"/>
            <a:ext cx="5334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total_counts vs %mito (pre-filter); threshold lines drawn. Drops likely doublets and dying cells.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Integration removes the batch effect</a:t>
            </a:r>
          </a:p>
        </p:txBody>
      </p:sp>
      <p:pic>
        <p:nvPicPr>
          <p:cNvPr id="3" name="Picture 2" descr="02_umap_pre_harmony_by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223" y="1371600"/>
            <a:ext cx="5334000" cy="4572000"/>
          </a:xfrm>
          <a:prstGeom prst="rect">
            <a:avLst/>
          </a:prstGeom>
        </p:spPr>
      </p:pic>
      <p:pic>
        <p:nvPicPr>
          <p:cNvPr id="4" name="Picture 3" descr="02_umap_by_s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471" y="1371600"/>
            <a:ext cx="5334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Before (left) vs after Harmony (right), coloured by sample: samples mix after correction.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Cell-type annotation</a:t>
            </a:r>
          </a:p>
        </p:txBody>
      </p:sp>
      <p:pic>
        <p:nvPicPr>
          <p:cNvPr id="3" name="Picture 2" descr="03_umap_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60252"/>
            <a:ext cx="5592927" cy="4194695"/>
          </a:xfrm>
          <a:prstGeom prst="rect">
            <a:avLst/>
          </a:prstGeom>
        </p:spPr>
      </p:pic>
      <p:pic>
        <p:nvPicPr>
          <p:cNvPr id="4" name="Picture 3" descr="03_marker_dot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1454047"/>
            <a:ext cx="5592927" cy="44071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celltypist lineages; agreement with Azimuth 92.7% and CoDi 93.1% (independent references).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Composition shifts vs control</a:t>
            </a:r>
          </a:p>
        </p:txBody>
      </p:sp>
      <p:pic>
        <p:nvPicPr>
          <p:cNvPr id="3" name="Picture 2" descr="04_composition_sta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09810"/>
            <a:ext cx="5592927" cy="3495579"/>
          </a:xfrm>
          <a:prstGeom prst="rect">
            <a:avLst/>
          </a:prstGeom>
        </p:spPr>
      </p:pic>
      <p:pic>
        <p:nvPicPr>
          <p:cNvPr id="4" name="Picture 3" descr="04_composition_group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104009"/>
            <a:ext cx="5592927" cy="31071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Cell-type proportions per sample; PSNP_200nm shows the largest compositional shift.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Differential expression: dose-response</a:t>
            </a:r>
          </a:p>
        </p:txBody>
      </p:sp>
      <p:pic>
        <p:nvPicPr>
          <p:cNvPr id="3" name="Picture 2" descr="07_dos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09810"/>
            <a:ext cx="5592927" cy="3495579"/>
          </a:xfrm>
          <a:prstGeom prst="rect">
            <a:avLst/>
          </a:prstGeom>
        </p:spPr>
      </p:pic>
      <p:pic>
        <p:nvPicPr>
          <p:cNvPr id="4" name="Picture 3" descr="06_size_catego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104009"/>
            <a:ext cx="5592927" cy="31071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Monocytes respond most; 200 nm drives more unique genes than 40 nm; mixture-emergent in monocytes.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Key biological finding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600200"/>
            <a:ext cx="11460175" cy="4525963"/>
          </a:xfrm>
        </p:spPr>
        <p:txBody>
          <a:bodyPr>
            <a:normAutofit/>
          </a:bodyPr>
          <a:lstStyle/>
          <a:p>
            <a:pPr>
              <a:defRPr sz="1800"/>
            </a:pPr>
            <a:r>
              <a:rPr sz="2400" dirty="0"/>
              <a:t>Monocytes show the strongest transcriptional response to </a:t>
            </a:r>
            <a:r>
              <a:rPr sz="2400" dirty="0" err="1"/>
              <a:t>nanoplastic</a:t>
            </a:r>
            <a:r>
              <a:rPr sz="2400" dirty="0"/>
              <a:t>.</a:t>
            </a:r>
          </a:p>
          <a:p>
            <a:pPr>
              <a:defRPr sz="1800"/>
            </a:pPr>
            <a:r>
              <a:rPr sz="2400" dirty="0"/>
              <a:t>200 nm particles drive MORE lineage-unique genes than 40 nm.</a:t>
            </a:r>
          </a:p>
          <a:p>
            <a:pPr>
              <a:defRPr sz="1800"/>
            </a:pPr>
            <a:r>
              <a:rPr sz="2400" dirty="0"/>
              <a:t>The 40+200 nm mixture produces an EMERGENT monocyte response </a:t>
            </a:r>
            <a:r>
              <a:rPr lang="en-US" sz="2400" dirty="0"/>
              <a:t>– </a:t>
            </a:r>
            <a:br>
              <a:rPr lang="en-US" sz="2400" dirty="0"/>
            </a:br>
            <a:r>
              <a:rPr sz="2400" dirty="0"/>
              <a:t>genes significant only in the mixture, in neither single size.</a:t>
            </a:r>
          </a:p>
          <a:p>
            <a:pPr>
              <a:defRPr sz="1800"/>
            </a:pPr>
            <a:r>
              <a:rPr sz="2400" dirty="0"/>
              <a:t>In lymphocytes the mixture is weaker than either size (sub-additive).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What the mixture does: emergent inflammation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600200"/>
            <a:ext cx="11460175" cy="4525963"/>
          </a:xfrm>
        </p:spPr>
        <p:txBody>
          <a:bodyPr>
            <a:normAutofit/>
          </a:bodyPr>
          <a:lstStyle/>
          <a:p>
            <a:pPr>
              <a:defRPr sz="1800"/>
            </a:pPr>
            <a:r>
              <a:rPr sz="2400" dirty="0"/>
              <a:t>The 180 mixture-only monocyte genes are dominated by INFLAMMATION.</a:t>
            </a:r>
          </a:p>
          <a:p>
            <a:pPr>
              <a:defRPr sz="1800"/>
            </a:pPr>
            <a:r>
              <a:rPr sz="2400" dirty="0"/>
              <a:t>Pathway enrichment (p ~ 1e-21): interleukin, cytokine &amp; TNF </a:t>
            </a:r>
            <a:r>
              <a:rPr sz="2400" dirty="0" err="1"/>
              <a:t>signalling</a:t>
            </a:r>
            <a:r>
              <a:rPr sz="2400" dirty="0"/>
              <a:t>,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sz="2400" dirty="0"/>
              <a:t>and 'response to lipopolysaccharide' - i.e. a bacterial-attack-like program.</a:t>
            </a:r>
          </a:p>
          <a:p>
            <a:pPr>
              <a:defRPr sz="1800"/>
            </a:pPr>
            <a:r>
              <a:rPr sz="2400" dirty="0"/>
              <a:t>Top mixture-only genes up: RIPK2, TRAF1, PIK3CB (innate/TNF </a:t>
            </a:r>
            <a:r>
              <a:rPr sz="2400" dirty="0" err="1"/>
              <a:t>signalling</a:t>
            </a:r>
            <a:r>
              <a:rPr sz="2400" dirty="0"/>
              <a:t>).</a:t>
            </a:r>
          </a:p>
          <a:p>
            <a:pPr>
              <a:defRPr sz="1800"/>
            </a:pPr>
            <a:r>
              <a:rPr sz="2400" dirty="0"/>
              <a:t>Interpretation: two sub-threshold exposures together push monocytes over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sz="2400" dirty="0"/>
              <a:t>an inflammatory activation threshold - an emergent, non-additive effect.</a:t>
            </a:r>
          </a:p>
          <a:p>
            <a:pPr>
              <a:defRPr sz="1800"/>
            </a:pPr>
            <a:r>
              <a:rPr sz="2400" dirty="0"/>
              <a:t>Real exposure is always to mixtures -&gt; single-size studies may under-estimate risk.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rPr dirty="0"/>
              <a:t>Additional analyses (5 implemented)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600200"/>
            <a:ext cx="11460175" cy="4525963"/>
          </a:xfrm>
        </p:spPr>
        <p:txBody>
          <a:bodyPr>
            <a:normAutofit/>
          </a:bodyPr>
          <a:lstStyle/>
          <a:p>
            <a:pPr>
              <a:defRPr sz="1800"/>
            </a:pPr>
            <a:r>
              <a:rPr sz="2400" dirty="0"/>
              <a:t>1. Module scoring - stress &amp; inflammation gene programs per sample (shown next).</a:t>
            </a:r>
          </a:p>
          <a:p>
            <a:pPr>
              <a:defRPr sz="1800"/>
            </a:pPr>
            <a:r>
              <a:rPr sz="2400" dirty="0"/>
              <a:t>2. Mixture additivity - is the mixture = 40nm + 200nm? (shown next).</a:t>
            </a:r>
          </a:p>
          <a:p>
            <a:pPr>
              <a:defRPr sz="1800"/>
            </a:pPr>
            <a:r>
              <a:rPr sz="2400" dirty="0"/>
              <a:t>3. Clustering robustness - clusters stable across Leiden resolutions (ARI).</a:t>
            </a:r>
          </a:p>
          <a:p>
            <a:pPr>
              <a:defRPr sz="1800"/>
            </a:pPr>
            <a:r>
              <a:rPr sz="2400" dirty="0"/>
              <a:t>4. Ligand-receptor - shift in cell-to-cell communication on exposure.</a:t>
            </a:r>
          </a:p>
          <a:p>
            <a:pPr>
              <a:defRPr sz="1800"/>
            </a:pPr>
            <a:r>
              <a:rPr sz="2400" dirty="0"/>
              <a:t>5. Dose-response - disruption magnitude vs particle size.</a:t>
            </a:r>
          </a:p>
          <a:p>
            <a:pPr>
              <a:defRPr sz="1800"/>
            </a:pPr>
            <a:r>
              <a:rPr sz="2400" dirty="0"/>
              <a:t>All five reinforce the same story: size-dependent, non-additive, monocyte-</a:t>
            </a:r>
            <a:r>
              <a:rPr sz="2400" dirty="0" err="1"/>
              <a:t>centred</a:t>
            </a:r>
            <a:r>
              <a:rPr sz="2400" dirty="0"/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rPr dirty="0"/>
              <a:t>Additional analyses: stress/inflammation module scores</a:t>
            </a:r>
          </a:p>
        </p:txBody>
      </p:sp>
      <p:pic>
        <p:nvPicPr>
          <p:cNvPr id="3" name="Picture 2" descr="07_module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347" y="1417638"/>
            <a:ext cx="8001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Analysis 1 of 5. Per-sample mean module scores for stress and inflammation gene programs.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Additional analyses: mixture additivity</a:t>
            </a:r>
          </a:p>
        </p:txBody>
      </p:sp>
      <p:pic>
        <p:nvPicPr>
          <p:cNvPr id="3" name="Picture 2" descr="07_mixture_add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511582"/>
            <a:ext cx="11460175" cy="22920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Analysis 2 of 5. Observed mixture response vs the 40+200 nm additive expectation, per lineage.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rPr dirty="0"/>
              <a:t>Limitations &amp; reproducibility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600200"/>
            <a:ext cx="11460175" cy="4525963"/>
          </a:xfrm>
        </p:spPr>
        <p:txBody>
          <a:bodyPr>
            <a:normAutofit/>
          </a:bodyPr>
          <a:lstStyle/>
          <a:p>
            <a:pPr>
              <a:defRPr sz="1800"/>
            </a:pPr>
            <a:r>
              <a:rPr sz="2400" dirty="0"/>
              <a:t>One donor, one sample per condition -&gt; NO biological replicates.</a:t>
            </a:r>
          </a:p>
          <a:p>
            <a:pPr>
              <a:defRPr sz="1800"/>
            </a:pPr>
            <a:r>
              <a:rPr sz="2400" dirty="0"/>
              <a:t>DE is cell-level Wilcoxon (not </a:t>
            </a:r>
            <a:r>
              <a:rPr sz="2400" dirty="0" err="1"/>
              <a:t>pseudobulk</a:t>
            </a:r>
            <a:r>
              <a:rPr sz="2400" dirty="0"/>
              <a:t>); p-values exploratory, </a:t>
            </a:r>
            <a:r>
              <a:rPr sz="2400" dirty="0" err="1"/>
              <a:t>pseudoreplication</a:t>
            </a:r>
            <a:r>
              <a:rPr sz="2400" dirty="0"/>
              <a:t> caveat.</a:t>
            </a:r>
          </a:p>
          <a:p>
            <a:pPr>
              <a:defRPr sz="1800"/>
            </a:pPr>
            <a:r>
              <a:rPr sz="2400" dirty="0"/>
              <a:t>No external gene-level ground truth; DE validated internally + biologically.</a:t>
            </a:r>
          </a:p>
          <a:p>
            <a:pPr>
              <a:defRPr sz="1800"/>
            </a:pPr>
            <a:r>
              <a:rPr sz="2400" dirty="0"/>
              <a:t>Everything reproduces: `python run_pipeline.py --all`; 37 offline intent tests.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f39aa4b3-b62d-42bf-8097-75e2c573ddfa}" enabled="1" method="Privileged" siteId="{3dd8961f-e488-4e60-8e11-a82d994e183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662</Words>
  <Application>Microsoft Office PowerPoint</Application>
  <PresentationFormat>Widescreen</PresentationFormat>
  <Paragraphs>54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Single-Cell Immune Response to Nanoplastic Particles</vt:lpstr>
      <vt:lpstr>Question &amp; dataset</vt:lpstr>
      <vt:lpstr>Pipeline (6 stages, one reproducible driver)</vt:lpstr>
      <vt:lpstr>QC &amp; preprocessing (1/2): per-sample QC metrics</vt:lpstr>
      <vt:lpstr>QC &amp; preprocessing (2/2): counts vs %mito</vt:lpstr>
      <vt:lpstr>Integration removes the batch effect</vt:lpstr>
      <vt:lpstr>Cell-type annotation</vt:lpstr>
      <vt:lpstr>Composition shifts vs control</vt:lpstr>
      <vt:lpstr>Differential expression: dose-response</vt:lpstr>
      <vt:lpstr>Key biological finding</vt:lpstr>
      <vt:lpstr>What the mixture does: emergent inflammation</vt:lpstr>
      <vt:lpstr>Additional analyses (5 implemented)</vt:lpstr>
      <vt:lpstr>Additional analyses: stress/inflammation module scores</vt:lpstr>
      <vt:lpstr>Additional analyses: mixture additivity</vt:lpstr>
      <vt:lpstr>Limitations &amp; reproducibility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Djordjevic, Vuk</cp:lastModifiedBy>
  <cp:revision>10</cp:revision>
  <dcterms:created xsi:type="dcterms:W3CDTF">2013-01-27T09:14:16Z</dcterms:created>
  <dcterms:modified xsi:type="dcterms:W3CDTF">2026-07-27T15:53:31Z</dcterms:modified>
  <cp:category/>
</cp:coreProperties>
</file>
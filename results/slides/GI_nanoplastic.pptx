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Single-Cell Immune Response to Nanoplastic Particles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scRNA-seq of human PBMCs exposed to 40 nm / 200 nm / mixed polystyrene nanoparticles vs control  -  Genomics Informatics, ETF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 &amp;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Do small vs large nanoplastics provoke different immune responses?</a:t>
            </a:r>
          </a:p>
          <a:p>
            <a:pPr>
              <a:defRPr sz="1800"/>
            </a:pPr>
            <a:r>
              <a:t>Does the 40+200 nm mixture do something neither size does alone?</a:t>
            </a:r>
          </a:p>
          <a:p>
            <a:pPr>
              <a:defRPr sz="1800"/>
            </a:pPr>
            <a:r>
              <a:t>4 samples, one donor: PSNP_40nm, PSNP_200nm, PSNP_mixture, control</a:t>
            </a:r>
          </a:p>
          <a:p>
            <a:pPr>
              <a:defRPr sz="1800"/>
            </a:pPr>
            <a:r>
              <a:t>~34,000 PBMCs, AnnData/.h5ad (Zenodo 10.5281/zenodo.15866724)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(6 stages, one reproducible driver)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QC &amp; preprocessing  -  thresholds justified on real percentiles</a:t>
            </a:r>
          </a:p>
          <a:p>
            <a:pPr>
              <a:defRPr sz="1800"/>
            </a:pPr>
            <a:r>
              <a:t>2. Integration  -  Harmony batch correction, UMAP, Leiden</a:t>
            </a:r>
          </a:p>
          <a:p>
            <a:pPr>
              <a:defRPr sz="1800"/>
            </a:pPr>
            <a:r>
              <a:t>3. Annotation  -  celltypist, cross-checked vs Azimuth &amp; CoDi (~93%)</a:t>
            </a:r>
          </a:p>
          <a:p>
            <a:pPr>
              <a:defRPr sz="1800"/>
            </a:pPr>
            <a:r>
              <a:t>4. Composition  -  proportions + log2 fold-change vs control</a:t>
            </a:r>
          </a:p>
          <a:p>
            <a:pPr>
              <a:defRPr sz="1800"/>
            </a:pPr>
            <a:r>
              <a:t>5. Differential expression  -  per-lineage Wilcoxon + pathway enrichment</a:t>
            </a:r>
          </a:p>
          <a:p>
            <a:pPr>
              <a:defRPr sz="1800"/>
            </a:pPr>
            <a:r>
              <a:t>6. Size-specific effects  -  unique / shared / mixture-emergent genes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 &amp; preprocessing</a:t>
            </a:r>
          </a:p>
        </p:txBody>
      </p:sp>
      <p:pic>
        <p:nvPicPr>
          <p:cNvPr id="3" name="Picture 2" descr="01_qc_violin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15773400" cy="4206240"/>
          </a:xfrm>
          <a:prstGeom prst="rect">
            <a:avLst/>
          </a:prstGeom>
        </p:spPr>
      </p:pic>
      <p:pic>
        <p:nvPicPr>
          <p:cNvPr id="4" name="Picture 3" descr="01_qc_scatter_counts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490728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Thresholds: max_genes~p99, max_mito between p95-p99; justified on the real distribution.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removes the batch effect</a:t>
            </a:r>
          </a:p>
        </p:txBody>
      </p:sp>
      <p:pic>
        <p:nvPicPr>
          <p:cNvPr id="3" name="Picture 2" descr="02_umap_pre_harmony_by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4907280" cy="4206240"/>
          </a:xfrm>
          <a:prstGeom prst="rect">
            <a:avLst/>
          </a:prstGeom>
        </p:spPr>
      </p:pic>
      <p:pic>
        <p:nvPicPr>
          <p:cNvPr id="4" name="Picture 3" descr="02_umap_by_s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490728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Before (left) vs after Harmony (right), coloured by sample: samples mix after correction.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Cell-type annotation</a:t>
            </a:r>
          </a:p>
        </p:txBody>
      </p:sp>
      <p:pic>
        <p:nvPicPr>
          <p:cNvPr id="3" name="Picture 2" descr="03_umap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08320" cy="4206240"/>
          </a:xfrm>
          <a:prstGeom prst="rect">
            <a:avLst/>
          </a:prstGeom>
        </p:spPr>
      </p:pic>
      <p:pic>
        <p:nvPicPr>
          <p:cNvPr id="4" name="Picture 3" descr="03_marker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5338016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celltypist lineages; agreement with Azimuth 92.7% and CoDi 93.1% (independent references).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Composition shifts vs control</a:t>
            </a:r>
          </a:p>
        </p:txBody>
      </p:sp>
      <p:pic>
        <p:nvPicPr>
          <p:cNvPr id="3" name="Picture 2" descr="04_composi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6729984" cy="4206240"/>
          </a:xfrm>
          <a:prstGeom prst="rect">
            <a:avLst/>
          </a:prstGeom>
        </p:spPr>
      </p:pic>
      <p:pic>
        <p:nvPicPr>
          <p:cNvPr id="4" name="Picture 3" descr="04_composition_grou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63040"/>
            <a:ext cx="757123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Cell-type proportions per sample; PSNP_200nm shows the largest compositional shift.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Differential expression: dose-response</a:t>
            </a:r>
          </a:p>
        </p:txBody>
      </p:sp>
      <p:pic>
        <p:nvPicPr>
          <p:cNvPr id="3" name="Picture 2" descr="06_size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8558784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Monocytes respond most; 200 nm drives more unique genes than 40 nm; mixture-emergent in monocytes.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biological finding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Monocytes show the strongest transcriptional response to nanoplastic.</a:t>
            </a:r>
          </a:p>
          <a:p>
            <a:pPr>
              <a:defRPr sz="1800"/>
            </a:pPr>
            <a:r>
              <a:t>200 nm particles drive MORE lineage-unique genes than 40 nm.</a:t>
            </a:r>
          </a:p>
          <a:p>
            <a:pPr>
              <a:defRPr sz="1800"/>
            </a:pPr>
            <a:r>
              <a:t>The 40+200 nm mixture produces an EMERGENT monocyte response -</a:t>
            </a:r>
          </a:p>
          <a:p>
            <a:pPr>
              <a:defRPr sz="1800"/>
            </a:pPr>
            <a:r>
              <a:t>  genes significant only in the mixture, in neither single size.</a:t>
            </a:r>
          </a:p>
          <a:p>
            <a:pPr>
              <a:defRPr sz="1800"/>
            </a:pPr>
            <a:r>
              <a:t>In lymphocytes the mixture is weaker than either size (sub-additive).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Bonus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(figure not generated yet -- run the pipeline)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One donor, one sample per condition -&gt; NO biological replicates.</a:t>
            </a:r>
          </a:p>
          <a:p>
            <a:pPr>
              <a:defRPr sz="1800"/>
            </a:pPr>
            <a:r>
              <a:t>DE is cell-level Wilcoxon (not pseudobulk); p-values exploratory, pseudoreplication caveat.</a:t>
            </a:r>
          </a:p>
          <a:p>
            <a:pPr>
              <a:defRPr sz="1800"/>
            </a:pPr>
            <a:r>
              <a:t>No external gene-level ground truth; DE validated internally + biologically.</a:t>
            </a:r>
          </a:p>
          <a:p>
            <a:pPr>
              <a:defRPr sz="1800"/>
            </a:pPr>
            <a:r>
              <a:t>Everything reproduces: `python run_pipeline.py --all`; 37 offline intent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
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my name is Vuk Djordjevic. I'm a master's student at the School of Electrical Engineering in Belgrade, and this is my project for the Genome Informatics course, 2026. The project is a single-cell analysis of how human immune cells respond to nanoplastic particles of different sizes. Nanoplastics are tiny plastic particles, and they've now been found in human blood, in direct contact with our immune cells. The question I looked at is whether particle size matters: do small and large nanoplastics cause different immune responses, and does a mixture of both do something neither size does on its own? To answer this I used single-cell RNA sequencing, which lets me read which genes are active in each individual cell.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four samples from a single donor. Peripheral blood immune cells were exposed to 40-nanometre particles, to 200-nanometre particles, to a mixture of both, and one sample was left unexposed as a control. That's about 34,000 cells in total. One thing I want to be upfront about: there is only one donor and one sample per condition, so there are no biological replicates. That limitation shaped how I did the statistics, and I flag it throughout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analysis runs through one pipeline of six stages: quality control, integration, cell-type annotation, composition analysis, differential expression, and size-specific effects. A single command reproduces all of it from the raw data, and each stage has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stage is quality control, where I remove low-quality cells before trusting anything. These three plots are violins, which are just histograms turned on their side and mirrored, so they're fatter where more cells sit. Along the bottom of each are my four samples. The left plot is how many genes each cell expressed, the middle is the total reads per cell, and the right is the percent of reads coming from mitochondria, which is a sign of a dying cell. This is after cleaning, and you can see the shapes look healthy and similar across all four samples, so no sample is junk. Instead of guessing the cutoffs I set them from the real distribution: I drop cells with too many genes, which are usually two cells stuck together, and cells with too much mitochondria, which are dying.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cleaning step, drawn a different way. Every dot here is one cell. Left-to-right is how many reads the cell has, and bottom-to-top is how mitochondrial it is. The red dashed line is my cutoff at 15 percent. Almost all the cells form a dense cloud hugging the bottom, with low mitochondria, which is exactly what healthy cells look like. The handful of dots floating up above the red line are dying or broken cells, and those get thrown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stage is integration. Both of these pictures are a UMAP. The way to picture it: each cell has thousands of genes, and UMAP squashes all of that down to a single dot on a map, so that cells with similar gene activity land close together. The axes are just map coordinates with no units; only closeness means anything. Each dot is a cell, coloured by which sample it came from. What I want here is for the colours to be well mixed. If the cells clumped up by colour, it would mean the sample a cell came from matters more than its actual biology, which is a technical artefact I'd have to remove. On both panels the colours are already nicely blended, so the samples line up and the cells group by cell type rather than by batch. One honest caveat: because each condition is a single sample, the batch and the treatment effects are tied together, so for the gene-level results later I work on the uncorrected data, where this can't bias anything.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stage is labelling the cell types. On the left is the same cell-map, now coloured by what kind of immune cell each dot is. You can literally see the neighbourhoods: the T cells are the big purple mass on the right, the monocytes are the orange island top-left, the B cells are blue at the bottom, and the NK cells are green. The fact that they form clean separate islands means the cell types are real and distinct. On the right is a dot-plot that proves the labels. The rows are the cell clusters and the columns are famous marker genes, like CD3D for T cells or CD14 for monocytes. A big dark dot means that gene is strongly switched on in that cluster, and you can see the dark dots line up on the diagonal, so each cluster lights up its own known marker. I assigned the types with a tool called celltypist, then cross-checked against two independent methods already in the data, and my labels agreed with both at about 93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stage asks whether exposure changed how many of each cell type there are. The bars show what fraction of a sample is each cell type, and the four coloured bars in each group are the four samples. The T cells dominate every sample, those are the tall bars on the right at around 80 percent, which is normal for blood. The thing to notice is the Monocyte group: the green 200-nanometre bar is noticeably taller than the others, roughly two and a half times the control's monocyte fraction, while everything else barely moves. So 200-nanometre exposure specifically bumps up the monocytes. Since there are no replicates, I report this as a descriptive shift and treat any statistical test as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stage asks which genes actually change on exposure, within each cell type. There are two bar charts, and in both the height of a bar is the number of genes that significantly changed, so taller means a bigger reaction. The left chart groups by condition and colours by cell type. The story jumps right out: the orange Monocyte bars tower over everything, because monocytes are the cells that eat and clear foreign particles so they react the hardest, and the 200-nanometre bar is taller than the 40-nanometre one, meaning bigger particles cause a bigger response. The right chart is the sixth stage, and it zooms into where those genes overlap. For each cell type there are four bars: genes that react only to 40 nanometres, only to 200, to both, and the key one in red, genes that fire only in the mixture and in neither size on its own. Look at the Monocyte group: that red bar is about 180 genes, a whole response that only appears when both sizes are combined. So the mixture does something the individual sizes do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pull the main findings together. First, monocytes show the strongest response to nanoplastic of any cell type. Second, the 200-nanometre particles drive more cell-type-unique genes than the 40-nanometre ones. And third, the biggest one: the 40 plus 200-nanometre mixture produces an emergent monocyte response, about 180 genes that are significant only in the mixture and in neither single size. Interestingly, in the lymphocytes the opposite happens, the mixture is actually weaker than either size alone. Either way, the combination of the two sizes does something the individual sizes do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that new thing the mixture does? I ran pathway enrichment on those 180 mixture-only monocyte genes, and the result points clearly at inflammation. The top pathways, with very strong statistical support, are interleukin, cytokine, and TNF signalling, along with the response to lipopolysaccharide. That last one is the program a monocyte runs during a bacterial infection, except here it's set off by plastic. Two of the strongest genes that go up in the mixture are RIPK2 and TRAF1, which are core innate-immune and TNF-signalling genes. My reading is that 40 and 200 nanometres each cause small changes that stay below a threshold, but together they push the monocyte past that threshold into an inflammatory state. And since real-world exposure is always to a mix of particle sizes, testing single sizes alone could underestimate the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additional-insights part of the project I implemented five extra analyses, which this slide lists, and the next slides show each one. They are module scoring, a mixture additivity test, a clustering robustness check, a ligand-receptor communication analysis, and dose-response. I'll walk through them in the next few slides. All five point the same way: a size-dependent, non-additive response centred on the monocytes.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additional analysis is module scoring. This is a colour grid where each row is a sample and each column is a biological program, which is just a named group of genes: oxidative stress, NF-kB inflammation, interferon, and heat shock. Red means that program is turned up in that sample, and white or blue means it isn't. The whole left column, oxidative stress, goes deep red in all three exposed samples but not in the control, so the plastic reliably stresses the cells. And the inflammation column turns pink specifically under 200 nanometres. So the size effect I keep pointing at shows up here too, in independent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analysis is a direct test of whether the mixture is just 40 plus 200 added together. There's one scatter per cell type, and each dot is a gene. Left-to-right is what I'd predict if the mixture were simply the two sizes summed, and bottom-to-top is what the mixture actually did. The red diagonal line is where the prediction would be perfect. If every gene sat on that line, the mixture would be boringly additive. But look at the Monocyte panel: there are clear blobs of genes sitting off the line. Those are genes the mixture switched on or off that you'd never predict from the single sizes, and that off-the-line behaviour is exactly the emergent, non-additive effect.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third and fourth analyses. The plot on the left is a sanity check on my clustering. The bottom axis is how finely I chose to cut the cells into groups. The blue line just rises because you naturally get more clusters if you cut finer. The one that matters is the green dashed line, which is how much the grouping still agrees with my default setting, where 1.0 would be identical. It stays high near the setting I chose, so my cell groups aren't a fluke of one knob. The plot on the right is cell-to-cell messaging. Each row is a signalling pair, a messenger and its receptor, and a bar goes right if that message got louder after exposure. The standout is IL1B, a classic inflammation alarm signal, shooting far right in all the exposed samples and furthest under 200 nanometres. So the cells aren't just changing internally, they're shouting inflammation at each other. The fifth analysis, dose-response, I already showed on the differential-expression slide earlier.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to be clear about the limits. One donor and no replicates mean the differential expression is done per cell and is exploratory, with a pseudoreplication caveat. There's no external gene-level reference, so I validated the results internally and biologically. But everything reproduces from the repository with a single command and a full test suite.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65760" y="2130425"/>
            <a:ext cx="11460175" cy="1470025"/>
          </a:xfrm>
        </p:spPr>
        <p:txBody>
          <a:bodyPr/>
          <a:lstStyle/>
          <a:p>
            <a:r>
              <a:t>Single-Cell Immune Response to Nanoplastic Particles</a:t>
            </a:r>
          </a:p>
        </p:txBody>
      </p:sp>
      <p:sp>
        <p:nvSpPr>
          <p:cNvPr id="3" name="Subtitle 2"/>
          <p:cNvSpPr>
            <a:spLocks noGrp="1"/>
          </p:cNvSpPr>
          <p:nvPr>
            <p:ph type="subTitle" idx="1"/>
          </p:nvPr>
        </p:nvSpPr>
        <p:spPr>
          <a:xfrm>
            <a:off x="365760" y="3886200"/>
            <a:ext cx="11460175" cy="1752600"/>
          </a:xfrm>
        </p:spPr>
        <p:txBody>
          <a:bodyPr/>
          <a:lstStyle/>
          <a:p>
            <a:r>
              <a:t>scRNA-seq of human PBMCs exposed to 40 nm / 200 nm / mixed polystyrene nanoparticles vs control  -  Genomics Informatics, ETF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Question &amp; dataset</a:t>
            </a:r>
          </a:p>
        </p:txBody>
      </p:sp>
      <p:sp>
        <p:nvSpPr>
          <p:cNvPr id="3" name="Content Placeholder 2"/>
          <p:cNvSpPr>
            <a:spLocks noGrp="1"/>
          </p:cNvSpPr>
          <p:nvPr>
            <p:ph idx="1"/>
          </p:nvPr>
        </p:nvSpPr>
        <p:spPr>
          <a:xfrm>
            <a:off x="365760" y="1600200"/>
            <a:ext cx="11460175" cy="4525963"/>
          </a:xfrm>
        </p:spPr>
        <p:txBody>
          <a:bodyPr/>
          <a:lstStyle/>
          <a:p>
            <a:pPr>
              <a:defRPr sz="1800"/>
            </a:pPr>
            <a:r>
              <a:t>Do small vs large nanoplastics provoke different immune responses?</a:t>
            </a:r>
          </a:p>
          <a:p>
            <a:pPr>
              <a:defRPr sz="1800"/>
            </a:pPr>
            <a:r>
              <a:t>Does the 40+200 nm mixture do something neither size does alone?</a:t>
            </a:r>
          </a:p>
          <a:p>
            <a:pPr>
              <a:defRPr sz="1800"/>
            </a:pPr>
            <a:r>
              <a:t>4 samples, one donor: PSNP_40nm, PSNP_200nm, PSNP_mixture, control</a:t>
            </a:r>
          </a:p>
          <a:p>
            <a:pPr>
              <a:defRPr sz="1800"/>
            </a:pPr>
            <a:r>
              <a:t>~34,000 PBMCs, AnnData/.h5ad (Zenodo 10.5281/zenodo.15866724)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Pipeline (6 stages, one reproducible driver)</a:t>
            </a:r>
          </a:p>
        </p:txBody>
      </p:sp>
      <p:sp>
        <p:nvSpPr>
          <p:cNvPr id="3" name="Content Placeholder 2"/>
          <p:cNvSpPr>
            <a:spLocks noGrp="1"/>
          </p:cNvSpPr>
          <p:nvPr>
            <p:ph idx="1"/>
          </p:nvPr>
        </p:nvSpPr>
        <p:spPr>
          <a:xfrm>
            <a:off x="365760" y="1600200"/>
            <a:ext cx="11460175" cy="4525963"/>
          </a:xfrm>
        </p:spPr>
        <p:txBody>
          <a:bodyPr/>
          <a:lstStyle/>
          <a:p>
            <a:pPr>
              <a:defRPr sz="1800"/>
            </a:pPr>
            <a:r>
              <a:t>1. QC &amp; preprocessing  -  thresholds justified on real percentiles</a:t>
            </a:r>
          </a:p>
          <a:p>
            <a:pPr>
              <a:defRPr sz="1800"/>
            </a:pPr>
            <a:r>
              <a:t>2. Integration  -  Harmony batch correction, UMAP, Leiden</a:t>
            </a:r>
          </a:p>
          <a:p>
            <a:pPr>
              <a:defRPr sz="1800"/>
            </a:pPr>
            <a:r>
              <a:t>3. Annotation  -  celltypist, cross-checked vs Azimuth &amp; CoDi (~93%)</a:t>
            </a:r>
          </a:p>
          <a:p>
            <a:pPr>
              <a:defRPr sz="1800"/>
            </a:pPr>
            <a:r>
              <a:t>4. Composition  -  proportions + log2 fold-change vs control</a:t>
            </a:r>
          </a:p>
          <a:p>
            <a:pPr>
              <a:defRPr sz="1800"/>
            </a:pPr>
            <a:r>
              <a:t>5. Differential expression  -  per-lineage Wilcoxon + pathway enrichment</a:t>
            </a:r>
          </a:p>
          <a:p>
            <a:pPr>
              <a:defRPr sz="1800"/>
            </a:pPr>
            <a:r>
              <a:t>6. Size-specific effects  -  unique / shared / mixture-emergent genes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(1/2): per-sample QC metrics</a:t>
            </a:r>
          </a:p>
        </p:txBody>
      </p:sp>
      <p:pic>
        <p:nvPicPr>
          <p:cNvPr id="3" name="Picture 2" descr="01_qc_violin_after.png"/>
          <p:cNvPicPr>
            <a:picLocks noChangeAspect="1"/>
          </p:cNvPicPr>
          <p:nvPr/>
        </p:nvPicPr>
        <p:blipFill>
          <a:blip r:embed="rId2"/>
          <a:stretch>
            <a:fillRect/>
          </a:stretch>
        </p:blipFill>
        <p:spPr>
          <a:xfrm>
            <a:off x="365760" y="2129576"/>
            <a:ext cx="11460175" cy="3056046"/>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Violins of the 3 QC metrics after filtering. Thresholds justified on the real distribution (max_genes ~p99, max_mito between p95-p99).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QC &amp; preprocessing (2/2): counts vs %mito</a:t>
            </a:r>
          </a:p>
        </p:txBody>
      </p:sp>
      <p:pic>
        <p:nvPicPr>
          <p:cNvPr id="3" name="Picture 2" descr="01_qc_scatter_counts_mito.png"/>
          <p:cNvPicPr>
            <a:picLocks noChangeAspect="1"/>
          </p:cNvPicPr>
          <p:nvPr/>
        </p:nvPicPr>
        <p:blipFill>
          <a:blip r:embed="rId2"/>
          <a:stretch>
            <a:fillRect/>
          </a:stretch>
        </p:blipFill>
        <p:spPr>
          <a:xfrm>
            <a:off x="3428847" y="1371600"/>
            <a:ext cx="5334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total_counts vs %mito (pre-filter); threshold lines drawn. Drops likely doublets and dying cells.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Integration removes the batch effect</a:t>
            </a:r>
          </a:p>
        </p:txBody>
      </p:sp>
      <p:pic>
        <p:nvPicPr>
          <p:cNvPr id="3" name="Picture 2" descr="02_umap_pre_harmony_by_sample.png"/>
          <p:cNvPicPr>
            <a:picLocks noChangeAspect="1"/>
          </p:cNvPicPr>
          <p:nvPr/>
        </p:nvPicPr>
        <p:blipFill>
          <a:blip r:embed="rId2"/>
          <a:stretch>
            <a:fillRect/>
          </a:stretch>
        </p:blipFill>
        <p:spPr>
          <a:xfrm>
            <a:off x="495223" y="1371600"/>
            <a:ext cx="5334000" cy="4572000"/>
          </a:xfrm>
          <a:prstGeom prst="rect">
            <a:avLst/>
          </a:prstGeom>
        </p:spPr>
      </p:pic>
      <p:pic>
        <p:nvPicPr>
          <p:cNvPr id="4" name="Picture 3" descr="02_umap_by_sample.png"/>
          <p:cNvPicPr>
            <a:picLocks noChangeAspect="1"/>
          </p:cNvPicPr>
          <p:nvPr/>
        </p:nvPicPr>
        <p:blipFill>
          <a:blip r:embed="rId3"/>
          <a:stretch>
            <a:fillRect/>
          </a:stretch>
        </p:blipFill>
        <p:spPr>
          <a:xfrm>
            <a:off x="6362471" y="1371600"/>
            <a:ext cx="5334000" cy="4572000"/>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Before (left) vs after Harmony (right), coloured by sample: samples mix after correction.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Cell-type annotation</a:t>
            </a:r>
          </a:p>
        </p:txBody>
      </p:sp>
      <p:pic>
        <p:nvPicPr>
          <p:cNvPr id="3" name="Picture 2" descr="03_umap_lineage.png"/>
          <p:cNvPicPr>
            <a:picLocks noChangeAspect="1"/>
          </p:cNvPicPr>
          <p:nvPr/>
        </p:nvPicPr>
        <p:blipFill>
          <a:blip r:embed="rId2"/>
          <a:stretch>
            <a:fillRect/>
          </a:stretch>
        </p:blipFill>
        <p:spPr>
          <a:xfrm>
            <a:off x="365760" y="1560252"/>
            <a:ext cx="5592927" cy="4194695"/>
          </a:xfrm>
          <a:prstGeom prst="rect">
            <a:avLst/>
          </a:prstGeom>
        </p:spPr>
      </p:pic>
      <p:pic>
        <p:nvPicPr>
          <p:cNvPr id="4" name="Picture 3" descr="03_marker_dotplot.png"/>
          <p:cNvPicPr>
            <a:picLocks noChangeAspect="1"/>
          </p:cNvPicPr>
          <p:nvPr/>
        </p:nvPicPr>
        <p:blipFill>
          <a:blip r:embed="rId3"/>
          <a:stretch>
            <a:fillRect/>
          </a:stretch>
        </p:blipFill>
        <p:spPr>
          <a:xfrm>
            <a:off x="6233007" y="1454047"/>
            <a:ext cx="5592927" cy="4407104"/>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celltypist lineages; agreement with Azimuth 92.7% and CoDi 93.1% (independent references).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Composition shifts vs control</a:t>
            </a:r>
          </a:p>
        </p:txBody>
      </p:sp>
      <p:pic>
        <p:nvPicPr>
          <p:cNvPr id="3" name="Picture 2" descr="04_composition_stacked.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4_composition_grouped.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Cell-type proportions per sample; PSNP_200nm shows the largest compositional shift.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Differential expression: dose-response</a:t>
            </a:r>
          </a:p>
        </p:txBody>
      </p:sp>
      <p:pic>
        <p:nvPicPr>
          <p:cNvPr id="3" name="Picture 2" descr="07_dose_response.png"/>
          <p:cNvPicPr>
            <a:picLocks noChangeAspect="1"/>
          </p:cNvPicPr>
          <p:nvPr/>
        </p:nvPicPr>
        <p:blipFill>
          <a:blip r:embed="rId2"/>
          <a:stretch>
            <a:fillRect/>
          </a:stretch>
        </p:blipFill>
        <p:spPr>
          <a:xfrm>
            <a:off x="365760" y="1909810"/>
            <a:ext cx="5592927" cy="3495579"/>
          </a:xfrm>
          <a:prstGeom prst="rect">
            <a:avLst/>
          </a:prstGeom>
        </p:spPr>
      </p:pic>
      <p:pic>
        <p:nvPicPr>
          <p:cNvPr id="4" name="Picture 3" descr="06_size_categories.png"/>
          <p:cNvPicPr>
            <a:picLocks noChangeAspect="1"/>
          </p:cNvPicPr>
          <p:nvPr/>
        </p:nvPicPr>
        <p:blipFill>
          <a:blip r:embed="rId3"/>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Monocytes respond most; 200 nm drives more unique genes than 40 nm; mixture-emergent in monocytes.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Key biological finding</a:t>
            </a:r>
          </a:p>
        </p:txBody>
      </p:sp>
      <p:sp>
        <p:nvSpPr>
          <p:cNvPr id="3" name="Content Placeholder 2"/>
          <p:cNvSpPr>
            <a:spLocks noGrp="1"/>
          </p:cNvSpPr>
          <p:nvPr>
            <p:ph idx="1"/>
          </p:nvPr>
        </p:nvSpPr>
        <p:spPr>
          <a:xfrm>
            <a:off x="365760" y="1600200"/>
            <a:ext cx="11460175" cy="4525963"/>
          </a:xfrm>
        </p:spPr>
        <p:txBody>
          <a:bodyPr/>
          <a:lstStyle/>
          <a:p>
            <a:pPr>
              <a:defRPr sz="1800"/>
            </a:pPr>
            <a:r>
              <a:t>Monocytes show the strongest transcriptional response to nanoplastic.</a:t>
            </a:r>
          </a:p>
          <a:p>
            <a:pPr>
              <a:defRPr sz="1800"/>
            </a:pPr>
            <a:r>
              <a:t>200 nm particles drive MORE lineage-unique genes than 40 nm.</a:t>
            </a:r>
          </a:p>
          <a:p>
            <a:pPr>
              <a:defRPr sz="1800"/>
            </a:pPr>
            <a:r>
              <a:t>The 40+200 nm mixture produces an EMERGENT monocyte response -</a:t>
            </a:r>
          </a:p>
          <a:p>
            <a:pPr>
              <a:defRPr sz="1800"/>
            </a:pPr>
            <a:r>
              <a:t>  genes significant only in the mixture, in neither single size.</a:t>
            </a:r>
          </a:p>
          <a:p>
            <a:pPr>
              <a:defRPr sz="1800"/>
            </a:pPr>
            <a:r>
              <a:t>In lymphocytes the mixture is weaker than either size (sub-additive).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What the mixture does: emergent inflammation</a:t>
            </a:r>
          </a:p>
        </p:txBody>
      </p:sp>
      <p:sp>
        <p:nvSpPr>
          <p:cNvPr id="3" name="Content Placeholder 2"/>
          <p:cNvSpPr>
            <a:spLocks noGrp="1"/>
          </p:cNvSpPr>
          <p:nvPr>
            <p:ph idx="1"/>
          </p:nvPr>
        </p:nvSpPr>
        <p:spPr>
          <a:xfrm>
            <a:off x="365760" y="1600200"/>
            <a:ext cx="11460175" cy="4525963"/>
          </a:xfrm>
        </p:spPr>
        <p:txBody>
          <a:bodyPr/>
          <a:lstStyle/>
          <a:p>
            <a:pPr>
              <a:defRPr sz="1800"/>
            </a:pPr>
            <a:r>
              <a:t>The 180 mixture-only monocyte genes are dominated by INFLAMMATION.</a:t>
            </a:r>
          </a:p>
          <a:p>
            <a:pPr>
              <a:defRPr sz="1800"/>
            </a:pPr>
            <a:r>
              <a:t>Pathway enrichment (p ~ 1e-21): interleukin, cytokine &amp; TNF signalling,</a:t>
            </a:r>
          </a:p>
          <a:p>
            <a:pPr>
              <a:defRPr sz="1800"/>
            </a:pPr>
            <a:r>
              <a:t>  and 'response to lipopolysaccharide' - i.e. a bacterial-attack-like program.</a:t>
            </a:r>
          </a:p>
          <a:p>
            <a:pPr>
              <a:defRPr sz="1800"/>
            </a:pPr>
            <a:r>
              <a:t>Top mixture-only genes up: RIPK2, TRAF1, PIK3CB (innate/TNF signalling).</a:t>
            </a:r>
          </a:p>
          <a:p>
            <a:pPr>
              <a:defRPr sz="1800"/>
            </a:pPr>
            <a:r>
              <a:t>Interpretation: two sub-threshold exposures together push monocytes over</a:t>
            </a:r>
          </a:p>
          <a:p>
            <a:pPr>
              <a:defRPr sz="1800"/>
            </a:pPr>
            <a:r>
              <a:t>  an inflammatory activation threshold - an emergent, non-additive effect.</a:t>
            </a:r>
          </a:p>
          <a:p>
            <a:pPr>
              <a:defRPr sz="1800"/>
            </a:pPr>
            <a:r>
              <a:t>Real exposure is always to mixtures -&gt; single-size studies may under-estimate risk.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(5 implemented)</a:t>
            </a:r>
          </a:p>
        </p:txBody>
      </p:sp>
      <p:sp>
        <p:nvSpPr>
          <p:cNvPr id="3" name="Content Placeholder 2"/>
          <p:cNvSpPr>
            <a:spLocks noGrp="1"/>
          </p:cNvSpPr>
          <p:nvPr>
            <p:ph idx="1"/>
          </p:nvPr>
        </p:nvSpPr>
        <p:spPr>
          <a:xfrm>
            <a:off x="365760" y="1600200"/>
            <a:ext cx="11460175" cy="4525963"/>
          </a:xfrm>
        </p:spPr>
        <p:txBody>
          <a:bodyPr/>
          <a:lstStyle/>
          <a:p>
            <a:pPr>
              <a:defRPr sz="1800"/>
            </a:pPr>
            <a:r>
              <a:t>1. Module scoring - stress &amp; inflammation gene programs per sample (shown next).</a:t>
            </a:r>
          </a:p>
          <a:p>
            <a:pPr>
              <a:defRPr sz="1800"/>
            </a:pPr>
            <a:r>
              <a:t>2. Mixture additivity - is the mixture = 40nm + 200nm? (shown next).</a:t>
            </a:r>
          </a:p>
          <a:p>
            <a:pPr>
              <a:defRPr sz="1800"/>
            </a:pPr>
            <a:r>
              <a:t>3. Clustering robustness - clusters stable across Leiden resolutions (ARI).</a:t>
            </a:r>
          </a:p>
          <a:p>
            <a:pPr>
              <a:defRPr sz="1800"/>
            </a:pPr>
            <a:r>
              <a:t>4. Ligand-receptor - shift in cell-to-cell communication on exposure.</a:t>
            </a:r>
          </a:p>
          <a:p>
            <a:pPr>
              <a:defRPr sz="1800"/>
            </a:pPr>
            <a:r>
              <a:t>5. Dose-response - disruption magnitude vs particle size.</a:t>
            </a:r>
          </a:p>
          <a:p>
            <a:pPr>
              <a:defRPr sz="1800"/>
            </a:pPr>
            <a:r>
              <a:t>All five reinforce the same story: size-dependent, non-additive, monocyte-centred.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stress/inflammation module scores</a:t>
            </a:r>
          </a:p>
        </p:txBody>
      </p:sp>
      <p:pic>
        <p:nvPicPr>
          <p:cNvPr id="3" name="Picture 2" descr="07_module_scores.png"/>
          <p:cNvPicPr>
            <a:picLocks noChangeAspect="1"/>
          </p:cNvPicPr>
          <p:nvPr/>
        </p:nvPicPr>
        <p:blipFill>
          <a:blip r:embed="rId2"/>
          <a:stretch>
            <a:fillRect/>
          </a:stretch>
        </p:blipFill>
        <p:spPr>
          <a:xfrm>
            <a:off x="2095347" y="1371600"/>
            <a:ext cx="8001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1 of 5. Per-sample mean module scores for stress and inflammation gene programs.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mixture additivity</a:t>
            </a:r>
          </a:p>
        </p:txBody>
      </p:sp>
      <p:pic>
        <p:nvPicPr>
          <p:cNvPr id="3" name="Picture 2" descr="07_mixture_additivity.png"/>
          <p:cNvPicPr>
            <a:picLocks noChangeAspect="1"/>
          </p:cNvPicPr>
          <p:nvPr/>
        </p:nvPicPr>
        <p:blipFill>
          <a:blip r:embed="rId2"/>
          <a:stretch>
            <a:fillRect/>
          </a:stretch>
        </p:blipFill>
        <p:spPr>
          <a:xfrm>
            <a:off x="365760" y="2511582"/>
            <a:ext cx="11460175" cy="2292035"/>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2 of 5. Observed mixture response vs the 40+200 nm additive expectation, per lineage.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Additional analyses: robustness &amp; communication</a:t>
            </a:r>
          </a:p>
        </p:txBody>
      </p:sp>
      <p:pic>
        <p:nvPicPr>
          <p:cNvPr id="3" name="Picture 2" descr="07_clustering_robustness.png"/>
          <p:cNvPicPr>
            <a:picLocks noChangeAspect="1"/>
          </p:cNvPicPr>
          <p:nvPr/>
        </p:nvPicPr>
        <p:blipFill>
          <a:blip r:embed="rId2"/>
          <a:stretch>
            <a:fillRect/>
          </a:stretch>
        </p:blipFill>
        <p:spPr>
          <a:xfrm>
            <a:off x="365760" y="1793290"/>
            <a:ext cx="5592927" cy="3728618"/>
          </a:xfrm>
          <a:prstGeom prst="rect">
            <a:avLst/>
          </a:prstGeom>
        </p:spPr>
      </p:pic>
      <p:pic>
        <p:nvPicPr>
          <p:cNvPr id="4" name="Picture 3" descr="07_ligand_receptor.png"/>
          <p:cNvPicPr>
            <a:picLocks noChangeAspect="1"/>
          </p:cNvPicPr>
          <p:nvPr/>
        </p:nvPicPr>
        <p:blipFill>
          <a:blip r:embed="rId3"/>
          <a:stretch>
            <a:fillRect/>
          </a:stretch>
        </p:blipFill>
        <p:spPr>
          <a:xfrm>
            <a:off x="6233007" y="1909810"/>
            <a:ext cx="5592927" cy="3495579"/>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Analyses 3 &amp; 4 of 5. Left: clustering robustness (ARI across Leiden resolutions). Right: ligand-receptor communication shift on exposure. (Analysis 5, dose-response, is on the DE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638"/>
            <a:ext cx="11460175" cy="1143000"/>
          </a:xfrm>
        </p:spPr>
        <p:txBody>
          <a:bodyPr/>
          <a:lstStyle/>
          <a:p>
            <a:r>
              <a:t>Limitations &amp; reproducibility</a:t>
            </a:r>
          </a:p>
        </p:txBody>
      </p:sp>
      <p:sp>
        <p:nvSpPr>
          <p:cNvPr id="3" name="Content Placeholder 2"/>
          <p:cNvSpPr>
            <a:spLocks noGrp="1"/>
          </p:cNvSpPr>
          <p:nvPr>
            <p:ph idx="1"/>
          </p:nvPr>
        </p:nvSpPr>
        <p:spPr>
          <a:xfrm>
            <a:off x="365760" y="1600200"/>
            <a:ext cx="11460175" cy="4525963"/>
          </a:xfrm>
        </p:spPr>
        <p:txBody>
          <a:bodyPr/>
          <a:lstStyle/>
          <a:p>
            <a:pPr>
              <a:defRPr sz="1800"/>
            </a:pPr>
            <a:r>
              <a:t>One donor, one sample per condition -&gt; NO biological replicates.</a:t>
            </a:r>
          </a:p>
          <a:p>
            <a:pPr>
              <a:defRPr sz="1800"/>
            </a:pPr>
            <a:r>
              <a:t>DE is cell-level Wilcoxon (not pseudobulk); p-values exploratory, pseudoreplication caveat.</a:t>
            </a:r>
          </a:p>
          <a:p>
            <a:pPr>
              <a:defRPr sz="1800"/>
            </a:pPr>
            <a:r>
              <a:t>No external gene-level ground truth; DE validated internally + biologically.</a:t>
            </a:r>
          </a:p>
          <a:p>
            <a:pPr>
              <a:defRPr sz="1800"/>
            </a:pPr>
            <a:r>
              <a:t>Everything reproduces: `python run_pipeline.py --all`; 37 offline intent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